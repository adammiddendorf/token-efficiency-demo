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c7f3685e-0c56-5faf-a489-838b025888e1}">
          <p14:sldIdLst>
            <p14:sldId id="256"/>
            <p14:sldId id="257"/>
            <p14:sldId id="258"/>
          </p14:sldIdLst>
        </p14:section>
        <p14:section name="Theory 1 - Context" id="{a66c730b-b8db-2779-b6f9-275b1d268242}">
          <p14:sldIdLst>
            <p14:sldId id="259"/>
            <p14:sldId id="260"/>
            <p14:sldId id="261"/>
            <p14:sldId id="262"/>
          </p14:sldIdLst>
        </p14:section>
        <p14:section name="Demo 1 - Vibe" id="{e6daab85-f23a-29cf-9a66-31b7ad79415e}">
          <p14:sldIdLst>
            <p14:sldId id="263"/>
          </p14:sldIdLst>
        </p14:section>
        <p14:section name="Theory 2 - Planning" id="{cf2fd7a0-7217-55c7-faad-31654ffe7aed}">
          <p14:sldIdLst>
            <p14:sldId id="264"/>
            <p14:sldId id="265"/>
            <p14:sldId id="266"/>
            <p14:sldId id="267"/>
            <p14:sldId id="268"/>
            <p14:sldId id="269"/>
            <p14:sldId id="270"/>
          </p14:sldIdLst>
        </p14:section>
        <p14:section name="Demo 2 - Disciplined" id="{abad094d-ed67-59fb-e275-a545b5fa5cb9}">
          <p14:sldIdLst>
            <p14:sldId id="271"/>
          </p14:sldIdLst>
        </p14:section>
        <p14:section name="Theory 3 - Context" id="{c6623b92-6c22-f81c-20c8-9eef5ae539f3}">
          <p14:sldIdLst>
            <p14:sldId id="272"/>
            <p14:sldId id="273"/>
            <p14:sldId id="274"/>
            <p14:sldId id="275"/>
            <p14:sldId id="276"/>
          </p14:sldIdLst>
        </p14:section>
        <p14:section name="Demo 3 - Cursor CLI" id="{508c662f-c384-020c-a470-bdcf7db4ed21}">
          <p14:sldIdLst>
            <p14:sldId id="277"/>
          </p14:sldIdLst>
        </p14:section>
        <p14:section name="Close" id="{22fcbfcd-687a-99f1-372a-e21110279868}">
          <p14:sldIdLst>
            <p14:sldId id="278"/>
            <p14:sldId id="279"/>
            <p14:sldId id="280"/>
          </p14:sldIdLst>
        </p14:section>
        <p14:section name="Backup" id="{58ab62d4-7f5e-e7ab-e919-0929bdf60eb1}">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Welcome. 60 minutes, no laptops needed - we drive, you watch and heckle. We alternate theory and live demos four times so nobody sits through 30 minutes of slides. Promise: everything we show is in the terminal - the Claude Code CLI and the Cursor CLI - and works the same in both, and there is a one-page cheat sheet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[Eugene starts `node race.mjs` on the second screen/terminal NOW if not already running.] Before we explain anything, we've started two Claude Code agents on the same three tickets in this repo. One gets prompts the way we all write them at 4pm on a Thursday. The other gets the habits we're about to teach. Same model. We'll come back at the end and see who finished, who was right,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Quick shape of the hour. Purple is us talking, teal is a live demo. Two big themes: planning is how we keep an agent on target, and managing context is how we keep it cheap. Questions are welcome during demos - that's when the agent is thinking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The wrong mental model: the agent 'knows' my repo. The right one: a fixed-size working set, and everything competes for it. Your CLAUDE.md, every file it opened, every test log, every message so far. And it's re-read every single turn - that's where cost and quality both go. Mental model to keep: include what helps the NEXT decision,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Make it concrete. One careless read of that analytics fixture costs more than the entire source tree - four times over. The demo bug needs ONE line changed in ONE file. And this repo is deliberately realistic: dead code that looks alive, files whose names lie. Your agent doesn't know which is which unless you tell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If you remember one slide from theory 1, it's this one. 'Token efficiency' is not about being stingy. A 20-cent session that edits the wrong file and passes review is the most expensive thing that can happen. So we measure four things, and tokens are the least painful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Here's the scorecard for every demo. Shout these out when you see them. The headline ratio: of the files it opened, how many mattered? Aim for 70% or better. Eugene, take it away - let's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drives, ADAM narrates and tallies. Eugene: fresh Claude Code session (clean profile) in parcel-pilot-stage/demo1-vibe, status line visible. Paste prompt 1 - expect the tax fix to be right; say 'good docs and a failing test did our job for us'. Then prompt 2 in the SAME chat; ask the room if anyone sees a problem with the ticket. When it finishes, run the hidden check: node demo-kit/verify.mjs ../../parcel-pilot-stage/demo1-vibe 1 3. In rehearsal Task 3 failed every time: '&gt; 10000' means exactly £100 still pays, and express went free too. Open shipping-price.ts and show the one if. Then /context. Adam: 'It did exactly what we asked. The bug is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Debrief what we just saw - tie each card to a moment in Demo 1 ('remember when it opened tax-calculator.ts?'). None of this is the model being dumb. It did exactly what we asked: find out everything, because we told it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the whole lesson on one slide - everything else is detail. Aim, Plan, Build, Prove, Reset. Notice that 'plan' is conditional and 'prove'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Walk the rows using the Demo 2 task - the same ticket Demo 1 failed. Point at the acceptance row: 'over £100' became '&gt; 10000', so exactly £100 still paid; and nobody said express was excluded. Two facts we knew and never typed. And the context row says 'not src/shipping/' - because carrier-rates.ts and shipping-selector.ts are sitting there sounding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Same bug. The right-hand prompt is maybe 150 tokens longer. It removes a repository-wide search worth tens of thousands. Everything in it is something you, the engineer, already knew - you'd just never have typed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why we plan. The agent in Demo 1 DID plan - it just did it invisibly, between tool calls. Plan mode makes that thinking visible and reviewable before a single edit. A wrong assumption costs one line to fix in a plan, a correction spiral in the build, and a whole new session after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The sections that matter most are the two people skip: 'don't touch' and 'open questions'. 'Don't touch' is what keeps the agent from wandering into src/shipping/ or refactoring the pipeline. 'Open questions' is where it tells you what it guessed - 'does exactly £100 count? express too?' is where both of Demo 1's bugs would have surfaced. Once approved, the plan is the contract: if the agent finds something that breaks the plan, the right move is to stop and re-plan, not let it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where planning and context management meet. Planning is the expensive, exploratory part - it fills the window with search results and dead ends. Once you have a plan you trust, save it to a file and clear. The build then starts from a clean window containing the plan and the files it names - nothing else. Same tools in both CLIs: plan mode via Shift+Tab, then /clear. Adam will do exactly this in the next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drives the Claude Code CLI (clean profile) in parcel-pilot-stage/demo2-disciplined, EUGENE narrates and keeps the same tally as Demo 1. Prompts: demo-kit/prompts.md (disciplined-1, disciplined-3, save-plan, build-from-plan). Step 2: 'same ticket Demo 1 got wrong - this time we say the two things we knew.' At step 3 ask the room 'what would you change in this plan?'. At step 4, read /context before and after /clear as numbers - a fresh session still holds the system prompt and CLAUDE.md, so the floor isn't zero. Step 5: run verify.mjs ... 1 3 - Task 3 passes here and failed in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Three options, and the difference is what survives. Continue keeps everything, including the noise. Compact (Claude Code) or summarize (Cursor CLI) replaces the transcript with a summary - it's lossy, so tell it what to keep. Clear keeps nothing but the repo - which is fine when the plan or handoff is in a file. 'Keep context under 20%' is a smoke alarm,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Left: the signals. The big one is the agent forgetting something you told it - that means the instruction has been buried by everything since. Right: compacting is a summary written by the model, so steer it. Compact at a natural boundary, say what matters, and restate the one constraint that must not be lost. And if the agent went down a wrong path, rewind to before it - arguing with it leaves the wrong path in context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Progressive disclosure is the single biggest structural win for agent docs. Layer 0 is the only thing paid on every turn, so it's tiny and mostly pointers. Layer 1 is a routing map the agent reads when it needs to find code. Layer 2 is scoped rules that load only when the agent touches matching files. Layer 3 is the deep stuff - ADRs, runbooks, skills - pulled only when changing that specific rule. parcel-pilot is built exactly like this, which is partly why the disciplined runs stay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Left is real - it's this repo's CLAUDE.md. Short facts that apply to every task, then pointers with a condition: read X only when Y. Right is what most CLAUDE.md files become after a year: every lesson, every incident, every subsystem, paid for on every turn of every session, including the ones fixing a typo in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The instinct after a bad session is 'add it to CLAUDE.md'. Do that for a year and every prompt carries thousands of tokens of folklore. Use the layers. Eugene's going to show the whole thing in the Cursor CLI: a new goal, a fresh context, and a lesson saved as a scoped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drives the Cursor CLI (`agent`) in parcel-pilot-stage/demo3-cursor, ADAM narrates. Step 1: cat AGENTS.md so the room sees layer 0 is tiny. Step 2: point out the agent reads ADR 003 because the prompt pointed at it - progressive disclosure on demand, not preloaded. The decoys: delivery-queue.ts (when to retry) and notification-log.ts (audit). The trap: the constant is named maxRetries but holds the attempt count - changing it to 2 gives ONE retry. Step 5: create .cursor/rules/notifications.mdc (copy from demo-kit/cursor-rule-example if short on time) - it loads only when the agent touches src/notifications/**. Then: 'Adam, how's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Eugene switches to the race terminal - the scoreboard prints when both lanes finish (results also saved in demo-kit/results/). Adam reads the rows top-down: correctness first, then tokens and context, then files. Fill the '_' cells in this slide from your rehearsal run so there's a fallback if the live race hasn't finished. If the vibe lane got everything right: point at tokens, peak context and files read - it paid more to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Read it, don't explain it - they've seen every line live. Ask the room for one habit each they'll try tomorrow (take two answers, max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Close on the three lines. Point to the cheat sheet (shared in the channel / handed out) and the repo for self-paced practice. Q&amp;A for the remaining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table is on the cheat sheet, so don't photograph it. Point out: both tools have plan mode, both have mentions, both have compaction and a reset. Adam uses the Claude Code CLI for the next demo; I'll do the last one in the Cursor CLI (agent). Over to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Last theory slide. Three scenarios, three different setups. The line people skip is the escalation condition. Backup slide: use in Q&amp;A if model choice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FFFFFF">
                    <a:alpha val="50000"/>
                  </a:srgbClr>
                </a:solidFill>
              </a:rPr>
              <a:t>Xplor Technologies - CONFIDENTIAL</a:t>
            </a:r>
            <a:endParaRPr lang="en-US" sz="1000" dirty="0"/>
          </a:p>
        </p:txBody>
      </p:sp>
      <p:sp>
        <p:nvSpPr>
          <p:cNvPr id="3" name="Text 1"/>
          <p:cNvSpPr/>
          <p:nvPr>
            <p:ph idx="101" type="title" hasCustomPrompt="1"/>
          </p:nvPr>
        </p:nvSpPr>
        <p:spPr>
          <a:xfrm>
            <a:off x="731520" y="2011680"/>
            <a:ext cx="10515600" cy="100584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1"/>
          <p:cNvSpPr/>
          <p:nvPr>
            <p:ph idx="102" type="body" hasCustomPrompt="1"/>
          </p:nvPr>
        </p:nvSpPr>
        <p:spPr>
          <a:xfrm>
            <a:off x="731520" y="3108960"/>
            <a:ext cx="10515600" cy="6400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
        <p:nvSpPr>
          <p:cNvPr id="5" name="Text 1"/>
          <p:cNvSpPr/>
          <p:nvPr>
            <p:ph idx="103" type="body" hasCustomPrompt="1"/>
          </p:nvPr>
        </p:nvSpPr>
        <p:spPr>
          <a:xfrm>
            <a:off x="731520" y="4937760"/>
            <a:ext cx="10515600" cy="914400"/>
          </a:xfrm>
          <a:prstGeom prst="rect">
            <a:avLst/>
          </a:prstGeom>
          <a:noFill/>
          <a:ln/>
        </p:spPr>
        <p:txBody>
          <a:bodyPr wrap="square" rtlCol="0"/>
          <a:lstStyle>
            <a:lvl1pPr indent="0" marL="0">
              <a:buNone/>
              <a:defRPr lang="en-US" sz="1600" b="1"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_DARK">
    <p:bg>
      <p:bgPr>
        <a:solidFill>
          <a:schemeClr val="tx2"/>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FFFFFF">
                    <a:alpha val="50000"/>
                  </a:srgbClr>
                </a:solidFill>
              </a:rPr>
              <a:t>Xplor Technologies - CONFIDENTIAL</a:t>
            </a:r>
            <a:endParaRPr lang="en-US" sz="1000" dirty="0"/>
          </a:p>
        </p:txBody>
      </p:sp>
      <p:sp>
        <p:nvSpPr>
          <p:cNvPr id="3" name="Text 1"/>
          <p:cNvSpPr/>
          <p:nvPr>
            <p:ph idx="101" type="title" hasCustomPrompt="1"/>
          </p:nvPr>
        </p:nvSpPr>
        <p:spPr>
          <a:xfrm>
            <a:off x="640080" y="868680"/>
            <a:ext cx="7315200"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5" name="Text 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Vibe vs. Verified</a:t>
            </a:r>
            <a:endParaRPr lang="en-US" sz="1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000000">
                    <a:alpha val="50000"/>
                  </a:srgbClr>
                </a:solidFill>
              </a:rPr>
              <a:t>Xplor Technologies - CONFIDENTIAL</a:t>
            </a:r>
            <a:endParaRPr lang="en-US" sz="1000" dirty="0"/>
          </a:p>
        </p:txBody>
      </p:sp>
      <p:sp>
        <p:nvSpPr>
          <p:cNvPr id="3" name="Text 1"/>
          <p:cNvSpPr/>
          <p:nvPr>
            <p:ph idx="101" type="title" hasCustomPrompt="1"/>
          </p:nvPr>
        </p:nvSpPr>
        <p:spPr>
          <a:xfrm>
            <a:off x="640080" y="411480"/>
            <a:ext cx="841248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
        <p:nvSpPr>
          <p:cNvPr id="5" name="Text 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Vibe vs. Verified</a:t>
            </a:r>
            <a:endParaRPr lang="en-US" sz="1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10515600" cy="1005840"/>
          </a:xfrm>
          <a:prstGeom prst="rect">
            <a:avLst/>
          </a:prstGeom>
          <a:noFill/>
          <a:ln/>
        </p:spPr>
        <p:txBody>
          <a:bodyPr wrap="square" lIns="0" tIns="0" rIns="0" bIns="0" rtlCol="0" anchor="b"/>
          <a:lstStyle/>
          <a:p>
            <a:pPr indent="0" marL="0">
              <a:buNone/>
            </a:pPr>
            <a:r>
              <a:rPr lang="en-US" sz="5400" b="1" dirty="0">
                <a:solidFill>
                  <a:schemeClr val="bg1"/>
                </a:solidFill>
              </a:rPr>
              <a:t>Vibe vs. Verified</a:t>
            </a:r>
            <a:endParaRPr lang="en-US" sz="5400" dirty="0"/>
          </a:p>
        </p:txBody>
      </p:sp>
      <p:sp>
        <p:nvSpPr>
          <p:cNvPr id="3" name="Text 1"/>
          <p:cNvSpPr/>
          <p:nvPr>
            <p:ph idx="102" type="body" hasCustomPrompt="1"/>
          </p:nvPr>
        </p:nvSpPr>
        <p:spPr>
          <a:xfrm>
            <a:off x="731520" y="3108960"/>
            <a:ext cx="10515600" cy="640080"/>
          </a:xfrm>
          <a:prstGeom prst="rect">
            <a:avLst/>
          </a:prstGeom>
          <a:noFill/>
          <a:ln/>
        </p:spPr>
        <p:txBody>
          <a:bodyPr wrap="square" lIns="0" tIns="0" rIns="0" bIns="0" rtlCol="0" anchor="t"/>
          <a:lstStyle/>
          <a:p>
            <a:pPr indent="0" marL="0">
              <a:buNone/>
            </a:pPr>
            <a:r>
              <a:rPr lang="en-US" sz="2400" dirty="0">
                <a:solidFill>
                  <a:schemeClr val="bg2"/>
                </a:solidFill>
              </a:rPr>
              <a:t>Token-efficient AI development with the Cursor and Claude Code CLIs</a:t>
            </a:r>
            <a:endParaRPr lang="en-US" sz="2400" dirty="0"/>
          </a:p>
        </p:txBody>
      </p:sp>
      <p:sp>
        <p:nvSpPr>
          <p:cNvPr id="4" name="Text 1"/>
          <p:cNvSpPr/>
          <p:nvPr>
            <p:ph idx="103" type="body" hasCustomPrompt="1"/>
          </p:nvPr>
        </p:nvSpPr>
        <p:spPr>
          <a:xfrm>
            <a:off x="731520" y="4937760"/>
            <a:ext cx="10515600" cy="914400"/>
          </a:xfrm>
          <a:prstGeom prst="rect">
            <a:avLst/>
          </a:prstGeom>
          <a:noFill/>
          <a:ln/>
        </p:spPr>
        <p:txBody>
          <a:bodyPr wrap="square" lIns="0" tIns="0" rIns="0" bIns="0" rtlCol="0" anchor="t"/>
          <a:lstStyle/>
          <a:p>
            <a:pPr indent="0" marL="0">
              <a:buNone/>
            </a:pPr>
            <a:r>
              <a:rPr lang="en-US" sz="1600" b="1" dirty="0">
                <a:solidFill>
                  <a:schemeClr val="accent4"/>
                </a:solidFill>
              </a:rPr>
              <a:t>Adam &amp; Eugene  ·  60-minute live session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OPEN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Two agents started racing when we said hello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Same repository, same model, same three tasks. Only the way we prompt them differs.</a:t>
            </a:r>
            <a:endParaRPr lang="en-US" sz="1500" dirty="0"/>
          </a:p>
        </p:txBody>
      </p:sp>
      <p:sp>
        <p:nvSpPr>
          <p:cNvPr id="5" name="panel"/>
          <p:cNvSpPr/>
          <p:nvPr/>
        </p:nvSpPr>
        <p:spPr>
          <a:xfrm>
            <a:off x="640080" y="1737360"/>
            <a:ext cx="10881360" cy="1371600"/>
          </a:xfrm>
          <a:prstGeom prst="roundRect">
            <a:avLst>
              <a:gd name="adj" fmla="val 5333"/>
            </a:avLst>
          </a:prstGeom>
          <a:solidFill>
            <a:schemeClr val="bg2"/>
          </a:solidFill>
          <a:ln w="12700">
            <a:solidFill>
              <a:schemeClr val="bg2"/>
            </a:solidFill>
            <a:prstDash val="solid"/>
          </a:ln>
        </p:spPr>
      </p:sp>
      <p:sp>
        <p:nvSpPr>
          <p:cNvPr id="6" name="glyph circle"/>
          <p:cNvSpPr/>
          <p:nvPr/>
        </p:nvSpPr>
        <p:spPr>
          <a:xfrm>
            <a:off x="868680" y="1965960"/>
            <a:ext cx="457200" cy="457200"/>
          </a:xfrm>
          <a:prstGeom prst="ellipse">
            <a:avLst/>
          </a:prstGeom>
          <a:solidFill>
            <a:schemeClr val="accent3"/>
          </a:solidFill>
          <a:ln w="12700">
            <a:solidFill>
              <a:schemeClr val="accent3"/>
            </a:solidFill>
            <a:prstDash val="solid"/>
          </a:ln>
        </p:spPr>
      </p:sp>
      <p:sp>
        <p:nvSpPr>
          <p:cNvPr id="7" name="Text 5"/>
          <p:cNvSpPr txBox="1"/>
          <p:nvPr/>
        </p:nvSpPr>
        <p:spPr>
          <a:xfrm>
            <a:off x="868680"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8" name="Text 6"/>
          <p:cNvSpPr txBox="1"/>
          <p:nvPr/>
        </p:nvSpPr>
        <p:spPr>
          <a:xfrm>
            <a:off x="1508760" y="1938528"/>
            <a:ext cx="3840480" cy="365760"/>
          </a:xfrm>
          <a:prstGeom prst="rect">
            <a:avLst/>
          </a:prstGeom>
          <a:noFill/>
          <a:ln/>
        </p:spPr>
        <p:txBody>
          <a:bodyPr wrap="square" lIns="0" tIns="0" rIns="0" bIns="0" rtlCol="0" anchor="t"/>
          <a:lstStyle/>
          <a:p>
            <a:pPr indent="0" marL="0">
              <a:buNone/>
            </a:pPr>
            <a:r>
              <a:rPr lang="en-US" sz="1800" b="1" dirty="0">
                <a:solidFill>
                  <a:schemeClr val="accent3"/>
                </a:solidFill>
              </a:rPr>
              <a:t>Vibe lane</a:t>
            </a:r>
            <a:endParaRPr lang="en-US" sz="1800" dirty="0"/>
          </a:p>
        </p:txBody>
      </p:sp>
      <p:sp>
        <p:nvSpPr>
          <p:cNvPr id="9" name="Text 7"/>
          <p:cNvSpPr txBox="1"/>
          <p:nvPr/>
        </p:nvSpPr>
        <p:spPr>
          <a:xfrm>
            <a:off x="1508760" y="2359152"/>
            <a:ext cx="4023360" cy="640080"/>
          </a:xfrm>
          <a:prstGeom prst="rect">
            <a:avLst/>
          </a:prstGeom>
          <a:noFill/>
          <a:ln/>
        </p:spPr>
        <p:txBody>
          <a:bodyPr wrap="square" lIns="0" tIns="0" rIns="0" bIns="0" rtlCol="0" anchor="t"/>
          <a:lstStyle/>
          <a:p>
            <a:pPr indent="0" marL="0">
              <a:buNone/>
            </a:pPr>
            <a:r>
              <a:rPr lang="en-US" sz="1400" dirty="0">
                <a:solidFill>
                  <a:schemeClr val="accent3"/>
                </a:solidFill>
              </a:rPr>
              <a:t>One conversation · three one-line prompts · no files, no constraints, no test command</a:t>
            </a:r>
            <a:endParaRPr lang="en-US" sz="1400" dirty="0"/>
          </a:p>
        </p:txBody>
      </p:sp>
      <p:sp>
        <p:nvSpPr>
          <p:cNvPr id="10" name="task chip"/>
          <p:cNvSpPr/>
          <p:nvPr/>
        </p:nvSpPr>
        <p:spPr>
          <a:xfrm>
            <a:off x="5760720" y="2148840"/>
            <a:ext cx="1737360" cy="548640"/>
          </a:xfrm>
          <a:prstGeom prst="roundRect">
            <a:avLst>
              <a:gd name="adj" fmla="val 13333"/>
            </a:avLst>
          </a:prstGeom>
          <a:solidFill>
            <a:schemeClr val="bg1"/>
          </a:solidFill>
          <a:ln w="15875">
            <a:solidFill>
              <a:schemeClr val="accent3"/>
            </a:solidFill>
            <a:prstDash val="solid"/>
          </a:ln>
        </p:spPr>
      </p:sp>
      <p:sp>
        <p:nvSpPr>
          <p:cNvPr id="11" name="Text 9"/>
          <p:cNvSpPr txBox="1"/>
          <p:nvPr/>
        </p:nvSpPr>
        <p:spPr>
          <a:xfrm>
            <a:off x="5760720" y="21488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1  Tax bug</a:t>
            </a:r>
            <a:endParaRPr lang="en-US" sz="1400" dirty="0"/>
          </a:p>
        </p:txBody>
      </p:sp>
      <p:sp>
        <p:nvSpPr>
          <p:cNvPr id="12" name="task chip"/>
          <p:cNvSpPr/>
          <p:nvPr/>
        </p:nvSpPr>
        <p:spPr>
          <a:xfrm>
            <a:off x="7680960" y="2148840"/>
            <a:ext cx="1737360" cy="548640"/>
          </a:xfrm>
          <a:prstGeom prst="roundRect">
            <a:avLst>
              <a:gd name="adj" fmla="val 13333"/>
            </a:avLst>
          </a:prstGeom>
          <a:solidFill>
            <a:schemeClr val="bg1"/>
          </a:solidFill>
          <a:ln w="15875">
            <a:solidFill>
              <a:schemeClr val="accent3"/>
            </a:solidFill>
            <a:prstDash val="solid"/>
          </a:ln>
        </p:spPr>
      </p:sp>
      <p:sp>
        <p:nvSpPr>
          <p:cNvPr id="13" name="Text 11"/>
          <p:cNvSpPr txBox="1"/>
          <p:nvPr/>
        </p:nvSpPr>
        <p:spPr>
          <a:xfrm>
            <a:off x="7680960" y="21488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3  Free shipping</a:t>
            </a:r>
            <a:endParaRPr lang="en-US" sz="1400" dirty="0"/>
          </a:p>
        </p:txBody>
      </p:sp>
      <p:sp>
        <p:nvSpPr>
          <p:cNvPr id="14" name="task chip"/>
          <p:cNvSpPr/>
          <p:nvPr/>
        </p:nvSpPr>
        <p:spPr>
          <a:xfrm>
            <a:off x="9601200" y="2148840"/>
            <a:ext cx="1737360" cy="548640"/>
          </a:xfrm>
          <a:prstGeom prst="roundRect">
            <a:avLst>
              <a:gd name="adj" fmla="val 13333"/>
            </a:avLst>
          </a:prstGeom>
          <a:solidFill>
            <a:schemeClr val="bg1"/>
          </a:solidFill>
          <a:ln w="15875">
            <a:solidFill>
              <a:schemeClr val="accent3"/>
            </a:solidFill>
            <a:prstDash val="solid"/>
          </a:ln>
        </p:spPr>
      </p:sp>
      <p:sp>
        <p:nvSpPr>
          <p:cNvPr id="15" name="Text 13"/>
          <p:cNvSpPr txBox="1"/>
          <p:nvPr/>
        </p:nvSpPr>
        <p:spPr>
          <a:xfrm>
            <a:off x="9601200" y="21488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4  Retry limit</a:t>
            </a:r>
            <a:endParaRPr lang="en-US" sz="1400" dirty="0"/>
          </a:p>
        </p:txBody>
      </p:sp>
      <p:sp>
        <p:nvSpPr>
          <p:cNvPr id="16" name="panel"/>
          <p:cNvSpPr/>
          <p:nvPr/>
        </p:nvSpPr>
        <p:spPr>
          <a:xfrm>
            <a:off x="640080" y="3337560"/>
            <a:ext cx="10881360" cy="1371600"/>
          </a:xfrm>
          <a:prstGeom prst="roundRect">
            <a:avLst>
              <a:gd name="adj" fmla="val 5333"/>
            </a:avLst>
          </a:prstGeom>
          <a:solidFill>
            <a:schemeClr val="bg2"/>
          </a:solidFill>
          <a:ln w="12700">
            <a:solidFill>
              <a:schemeClr val="bg2"/>
            </a:solidFill>
            <a:prstDash val="solid"/>
          </a:ln>
        </p:spPr>
      </p:sp>
      <p:sp>
        <p:nvSpPr>
          <p:cNvPr id="17" name="glyph circle"/>
          <p:cNvSpPr/>
          <p:nvPr/>
        </p:nvSpPr>
        <p:spPr>
          <a:xfrm>
            <a:off x="868680" y="3566160"/>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868680" y="3566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9" name="Text 17"/>
          <p:cNvSpPr txBox="1"/>
          <p:nvPr/>
        </p:nvSpPr>
        <p:spPr>
          <a:xfrm>
            <a:off x="1508760" y="3538728"/>
            <a:ext cx="3840480" cy="365760"/>
          </a:xfrm>
          <a:prstGeom prst="rect">
            <a:avLst/>
          </a:prstGeom>
          <a:noFill/>
          <a:ln/>
        </p:spPr>
        <p:txBody>
          <a:bodyPr wrap="square" lIns="0" tIns="0" rIns="0" bIns="0" rtlCol="0" anchor="t"/>
          <a:lstStyle/>
          <a:p>
            <a:pPr indent="0" marL="0">
              <a:buNone/>
            </a:pPr>
            <a:r>
              <a:rPr lang="en-US" sz="1800" b="1" dirty="0">
                <a:solidFill>
                  <a:schemeClr val="accent2"/>
                </a:solidFill>
              </a:rPr>
              <a:t>Disciplined lane</a:t>
            </a:r>
            <a:endParaRPr lang="en-US" sz="1800" dirty="0"/>
          </a:p>
        </p:txBody>
      </p:sp>
      <p:sp>
        <p:nvSpPr>
          <p:cNvPr id="20" name="Text 18"/>
          <p:cNvSpPr txBox="1"/>
          <p:nvPr/>
        </p:nvSpPr>
        <p:spPr>
          <a:xfrm>
            <a:off x="1508760" y="3959352"/>
            <a:ext cx="4023360" cy="640080"/>
          </a:xfrm>
          <a:prstGeom prst="rect">
            <a:avLst/>
          </a:prstGeom>
          <a:noFill/>
          <a:ln/>
        </p:spPr>
        <p:txBody>
          <a:bodyPr wrap="square" lIns="0" tIns="0" rIns="0" bIns="0" rtlCol="0" anchor="t"/>
          <a:lstStyle/>
          <a:p>
            <a:pPr indent="0" marL="0">
              <a:buNone/>
            </a:pPr>
            <a:r>
              <a:rPr lang="en-US" sz="1400" dirty="0">
                <a:solidFill>
                  <a:schemeClr val="accent3"/>
                </a:solidFill>
              </a:rPr>
              <a:t>Fresh conversation per task · six-part prompts · plan first · narrowest test, then verify</a:t>
            </a:r>
            <a:endParaRPr lang="en-US" sz="1400" dirty="0"/>
          </a:p>
        </p:txBody>
      </p:sp>
      <p:sp>
        <p:nvSpPr>
          <p:cNvPr id="21" name="task chip"/>
          <p:cNvSpPr/>
          <p:nvPr/>
        </p:nvSpPr>
        <p:spPr>
          <a:xfrm>
            <a:off x="5760720" y="3749040"/>
            <a:ext cx="1737360" cy="548640"/>
          </a:xfrm>
          <a:prstGeom prst="roundRect">
            <a:avLst>
              <a:gd name="adj" fmla="val 13333"/>
            </a:avLst>
          </a:prstGeom>
          <a:solidFill>
            <a:schemeClr val="bg1"/>
          </a:solidFill>
          <a:ln w="15875">
            <a:solidFill>
              <a:schemeClr val="accent2"/>
            </a:solidFill>
            <a:prstDash val="solid"/>
          </a:ln>
        </p:spPr>
      </p:sp>
      <p:sp>
        <p:nvSpPr>
          <p:cNvPr id="22" name="Text 20"/>
          <p:cNvSpPr txBox="1"/>
          <p:nvPr/>
        </p:nvSpPr>
        <p:spPr>
          <a:xfrm>
            <a:off x="5760720" y="37490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1  Tax bug</a:t>
            </a:r>
            <a:endParaRPr lang="en-US" sz="1400" dirty="0"/>
          </a:p>
        </p:txBody>
      </p:sp>
      <p:sp>
        <p:nvSpPr>
          <p:cNvPr id="23" name="task chip"/>
          <p:cNvSpPr/>
          <p:nvPr/>
        </p:nvSpPr>
        <p:spPr>
          <a:xfrm>
            <a:off x="7680960" y="3749040"/>
            <a:ext cx="1737360" cy="548640"/>
          </a:xfrm>
          <a:prstGeom prst="roundRect">
            <a:avLst>
              <a:gd name="adj" fmla="val 13333"/>
            </a:avLst>
          </a:prstGeom>
          <a:solidFill>
            <a:schemeClr val="bg1"/>
          </a:solidFill>
          <a:ln w="15875">
            <a:solidFill>
              <a:schemeClr val="accent2"/>
            </a:solidFill>
            <a:prstDash val="solid"/>
          </a:ln>
        </p:spPr>
      </p:sp>
      <p:sp>
        <p:nvSpPr>
          <p:cNvPr id="24" name="Text 22"/>
          <p:cNvSpPr txBox="1"/>
          <p:nvPr/>
        </p:nvSpPr>
        <p:spPr>
          <a:xfrm>
            <a:off x="7680960" y="37490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3  Free shipping</a:t>
            </a:r>
            <a:endParaRPr lang="en-US" sz="1400" dirty="0"/>
          </a:p>
        </p:txBody>
      </p:sp>
      <p:sp>
        <p:nvSpPr>
          <p:cNvPr id="25" name="task chip"/>
          <p:cNvSpPr/>
          <p:nvPr/>
        </p:nvSpPr>
        <p:spPr>
          <a:xfrm>
            <a:off x="9601200" y="3749040"/>
            <a:ext cx="1737360" cy="548640"/>
          </a:xfrm>
          <a:prstGeom prst="roundRect">
            <a:avLst>
              <a:gd name="adj" fmla="val 13333"/>
            </a:avLst>
          </a:prstGeom>
          <a:solidFill>
            <a:schemeClr val="bg1"/>
          </a:solidFill>
          <a:ln w="15875">
            <a:solidFill>
              <a:schemeClr val="accent2"/>
            </a:solidFill>
            <a:prstDash val="solid"/>
          </a:ln>
        </p:spPr>
      </p:sp>
      <p:sp>
        <p:nvSpPr>
          <p:cNvPr id="26" name="Text 24"/>
          <p:cNvSpPr txBox="1"/>
          <p:nvPr/>
        </p:nvSpPr>
        <p:spPr>
          <a:xfrm>
            <a:off x="9601200" y="3749040"/>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4  Retry limit</a:t>
            </a:r>
            <a:endParaRPr lang="en-US" sz="1400" dirty="0"/>
          </a:p>
        </p:txBody>
      </p:sp>
      <p:sp>
        <p:nvSpPr>
          <p:cNvPr id="27" name="panel"/>
          <p:cNvSpPr/>
          <p:nvPr/>
        </p:nvSpPr>
        <p:spPr>
          <a:xfrm>
            <a:off x="640080" y="5120640"/>
            <a:ext cx="10881360" cy="640080"/>
          </a:xfrm>
          <a:prstGeom prst="roundRect">
            <a:avLst>
              <a:gd name="adj" fmla="val 11429"/>
            </a:avLst>
          </a:prstGeom>
          <a:solidFill>
            <a:schemeClr val="bg2"/>
          </a:solidFill>
          <a:ln w="12700">
            <a:solidFill>
              <a:schemeClr val="bg2"/>
            </a:solidFill>
            <a:prstDash val="solid"/>
          </a:ln>
        </p:spPr>
      </p:sp>
      <p:sp>
        <p:nvSpPr>
          <p:cNvPr id="28" name="Text 26"/>
          <p:cNvSpPr txBox="1"/>
          <p:nvPr/>
        </p:nvSpPr>
        <p:spPr>
          <a:xfrm>
            <a:off x="868680" y="5120640"/>
            <a:ext cx="10424160" cy="640080"/>
          </a:xfrm>
          <a:prstGeom prst="rect">
            <a:avLst/>
          </a:prstGeom>
          <a:noFill/>
          <a:ln/>
        </p:spPr>
        <p:txBody>
          <a:bodyPr wrap="square" lIns="0" tIns="0" rIns="0" bIns="0" rtlCol="0" anchor="ctr"/>
          <a:lstStyle/>
          <a:p>
            <a:pPr indent="0" marL="0">
              <a:buNone/>
            </a:pPr>
            <a:r>
              <a:rPr lang="en-US" sz="1500" b="1" dirty="0">
                <a:solidFill>
                  <a:schemeClr val="tx2"/>
                </a:solidFill>
              </a:rPr>
              <a:t>We will not look at it again until minute 54. Then we read the scoreboard together.</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OPEN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Theory, demo, theory, demo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 idea gets shown live within ten minutes of being explained.</a:t>
            </a:r>
            <a:endParaRPr lang="en-US" sz="1500" dirty="0"/>
          </a:p>
        </p:txBody>
      </p:sp>
      <p:sp>
        <p:nvSpPr>
          <p:cNvPr id="5" name="Text 3"/>
          <p:cNvSpPr txBox="1"/>
          <p:nvPr/>
        </p:nvSpPr>
        <p:spPr>
          <a:xfrm>
            <a:off x="640080" y="1691640"/>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0:03</a:t>
            </a:r>
            <a:endParaRPr lang="en-US" sz="1600" dirty="0"/>
          </a:p>
        </p:txBody>
      </p:sp>
      <p:sp>
        <p:nvSpPr>
          <p:cNvPr id="6" name="block type"/>
          <p:cNvSpPr/>
          <p:nvPr/>
        </p:nvSpPr>
        <p:spPr>
          <a:xfrm>
            <a:off x="1554480" y="1764792"/>
            <a:ext cx="1188720" cy="329184"/>
          </a:xfrm>
          <a:prstGeom prst="roundRect">
            <a:avLst>
              <a:gd name="adj" fmla="val 22222"/>
            </a:avLst>
          </a:prstGeom>
          <a:solidFill>
            <a:schemeClr val="accent1"/>
          </a:solidFill>
          <a:ln w="12700">
            <a:solidFill>
              <a:schemeClr val="accent1"/>
            </a:solidFill>
            <a:prstDash val="solid"/>
          </a:ln>
        </p:spPr>
      </p:sp>
      <p:sp>
        <p:nvSpPr>
          <p:cNvPr id="7" name="Text 5"/>
          <p:cNvSpPr txBox="1"/>
          <p:nvPr/>
        </p:nvSpPr>
        <p:spPr>
          <a:xfrm>
            <a:off x="1554480" y="1764792"/>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8" name="Text 6"/>
          <p:cNvSpPr txBox="1"/>
          <p:nvPr/>
        </p:nvSpPr>
        <p:spPr>
          <a:xfrm>
            <a:off x="3017520" y="1691640"/>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How context actually works</a:t>
            </a:r>
            <a:endParaRPr lang="en-US" sz="1800" dirty="0"/>
          </a:p>
        </p:txBody>
      </p:sp>
      <p:sp>
        <p:nvSpPr>
          <p:cNvPr id="9" name="Text 7"/>
          <p:cNvSpPr txBox="1"/>
          <p:nvPr/>
        </p:nvSpPr>
        <p:spPr>
          <a:xfrm>
            <a:off x="9052560" y="1691640"/>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a:t>
            </a:r>
            <a:endParaRPr lang="en-US" sz="1500" dirty="0"/>
          </a:p>
        </p:txBody>
      </p:sp>
      <p:sp>
        <p:nvSpPr>
          <p:cNvPr id="10" name="Text 8"/>
          <p:cNvSpPr txBox="1"/>
          <p:nvPr/>
        </p:nvSpPr>
        <p:spPr>
          <a:xfrm>
            <a:off x="640080" y="2295144"/>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0:09</a:t>
            </a:r>
            <a:endParaRPr lang="en-US" sz="1600" dirty="0"/>
          </a:p>
        </p:txBody>
      </p:sp>
      <p:sp>
        <p:nvSpPr>
          <p:cNvPr id="11" name="block type"/>
          <p:cNvSpPr/>
          <p:nvPr/>
        </p:nvSpPr>
        <p:spPr>
          <a:xfrm>
            <a:off x="1554480" y="2368296"/>
            <a:ext cx="1188720" cy="329184"/>
          </a:xfrm>
          <a:prstGeom prst="roundRect">
            <a:avLst>
              <a:gd name="adj" fmla="val 22222"/>
            </a:avLst>
          </a:prstGeom>
          <a:solidFill>
            <a:schemeClr val="accent2"/>
          </a:solidFill>
          <a:ln w="12700">
            <a:solidFill>
              <a:schemeClr val="accent2"/>
            </a:solidFill>
            <a:prstDash val="solid"/>
          </a:ln>
        </p:spPr>
      </p:sp>
      <p:sp>
        <p:nvSpPr>
          <p:cNvPr id="12" name="Text 10"/>
          <p:cNvSpPr txBox="1"/>
          <p:nvPr/>
        </p:nvSpPr>
        <p:spPr>
          <a:xfrm>
            <a:off x="1554480" y="2368296"/>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13" name="Text 11"/>
          <p:cNvSpPr txBox="1"/>
          <p:nvPr/>
        </p:nvSpPr>
        <p:spPr>
          <a:xfrm>
            <a:off x="3017520" y="2295144"/>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Vibe it: one prompt, no plan</a:t>
            </a:r>
            <a:endParaRPr lang="en-US" sz="1800" dirty="0"/>
          </a:p>
        </p:txBody>
      </p:sp>
      <p:sp>
        <p:nvSpPr>
          <p:cNvPr id="14" name="Text 12"/>
          <p:cNvSpPr txBox="1"/>
          <p:nvPr/>
        </p:nvSpPr>
        <p:spPr>
          <a:xfrm>
            <a:off x="9052560" y="2295144"/>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 drives</a:t>
            </a:r>
            <a:endParaRPr lang="en-US" sz="1500" dirty="0"/>
          </a:p>
        </p:txBody>
      </p:sp>
      <p:sp>
        <p:nvSpPr>
          <p:cNvPr id="15" name="Text 13"/>
          <p:cNvSpPr txBox="1"/>
          <p:nvPr/>
        </p:nvSpPr>
        <p:spPr>
          <a:xfrm>
            <a:off x="640080" y="2898648"/>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0:17</a:t>
            </a:r>
            <a:endParaRPr lang="en-US" sz="1600" dirty="0"/>
          </a:p>
        </p:txBody>
      </p:sp>
      <p:sp>
        <p:nvSpPr>
          <p:cNvPr id="16" name="block type"/>
          <p:cNvSpPr/>
          <p:nvPr/>
        </p:nvSpPr>
        <p:spPr>
          <a:xfrm>
            <a:off x="1554480" y="2971800"/>
            <a:ext cx="1188720" cy="329184"/>
          </a:xfrm>
          <a:prstGeom prst="roundRect">
            <a:avLst>
              <a:gd name="adj" fmla="val 22222"/>
            </a:avLst>
          </a:prstGeom>
          <a:solidFill>
            <a:schemeClr val="accent1"/>
          </a:solidFill>
          <a:ln w="12700">
            <a:solidFill>
              <a:schemeClr val="accent1"/>
            </a:solidFill>
            <a:prstDash val="solid"/>
          </a:ln>
        </p:spPr>
      </p:sp>
      <p:sp>
        <p:nvSpPr>
          <p:cNvPr id="17" name="Text 15"/>
          <p:cNvSpPr txBox="1"/>
          <p:nvPr/>
        </p:nvSpPr>
        <p:spPr>
          <a:xfrm>
            <a:off x="1554480" y="2971800"/>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18" name="Text 16"/>
          <p:cNvSpPr txBox="1"/>
          <p:nvPr/>
        </p:nvSpPr>
        <p:spPr>
          <a:xfrm>
            <a:off x="3017520" y="2898648"/>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Planning keeps agents on target</a:t>
            </a:r>
            <a:endParaRPr lang="en-US" sz="1800" dirty="0"/>
          </a:p>
        </p:txBody>
      </p:sp>
      <p:sp>
        <p:nvSpPr>
          <p:cNvPr id="19" name="Text 17"/>
          <p:cNvSpPr txBox="1"/>
          <p:nvPr/>
        </p:nvSpPr>
        <p:spPr>
          <a:xfrm>
            <a:off x="9052560" y="2898648"/>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a:t>
            </a:r>
            <a:endParaRPr lang="en-US" sz="1500" dirty="0"/>
          </a:p>
        </p:txBody>
      </p:sp>
      <p:sp>
        <p:nvSpPr>
          <p:cNvPr id="20" name="Text 18"/>
          <p:cNvSpPr txBox="1"/>
          <p:nvPr/>
        </p:nvSpPr>
        <p:spPr>
          <a:xfrm>
            <a:off x="640080" y="3502152"/>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0:27</a:t>
            </a:r>
            <a:endParaRPr lang="en-US" sz="1600" dirty="0"/>
          </a:p>
        </p:txBody>
      </p:sp>
      <p:sp>
        <p:nvSpPr>
          <p:cNvPr id="21" name="block type"/>
          <p:cNvSpPr/>
          <p:nvPr/>
        </p:nvSpPr>
        <p:spPr>
          <a:xfrm>
            <a:off x="1554480" y="3575304"/>
            <a:ext cx="1188720" cy="329184"/>
          </a:xfrm>
          <a:prstGeom prst="roundRect">
            <a:avLst>
              <a:gd name="adj" fmla="val 22222"/>
            </a:avLst>
          </a:prstGeom>
          <a:solidFill>
            <a:schemeClr val="accent2"/>
          </a:solidFill>
          <a:ln w="12700">
            <a:solidFill>
              <a:schemeClr val="accent2"/>
            </a:solidFill>
            <a:prstDash val="solid"/>
          </a:ln>
        </p:spPr>
      </p:sp>
      <p:sp>
        <p:nvSpPr>
          <p:cNvPr id="22" name="Text 20"/>
          <p:cNvSpPr txBox="1"/>
          <p:nvPr/>
        </p:nvSpPr>
        <p:spPr>
          <a:xfrm>
            <a:off x="1554480" y="3575304"/>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23" name="Text 21"/>
          <p:cNvSpPr txBox="1"/>
          <p:nvPr/>
        </p:nvSpPr>
        <p:spPr>
          <a:xfrm>
            <a:off x="3017520" y="3502152"/>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Plan, save, clear, build</a:t>
            </a:r>
            <a:endParaRPr lang="en-US" sz="1800" dirty="0"/>
          </a:p>
        </p:txBody>
      </p:sp>
      <p:sp>
        <p:nvSpPr>
          <p:cNvPr id="24" name="Text 22"/>
          <p:cNvSpPr txBox="1"/>
          <p:nvPr/>
        </p:nvSpPr>
        <p:spPr>
          <a:xfrm>
            <a:off x="9052560" y="3502152"/>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 drives</a:t>
            </a:r>
            <a:endParaRPr lang="en-US" sz="1500" dirty="0"/>
          </a:p>
        </p:txBody>
      </p:sp>
      <p:sp>
        <p:nvSpPr>
          <p:cNvPr id="25" name="Text 23"/>
          <p:cNvSpPr txBox="1"/>
          <p:nvPr/>
        </p:nvSpPr>
        <p:spPr>
          <a:xfrm>
            <a:off x="640080" y="4105656"/>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0:38</a:t>
            </a:r>
            <a:endParaRPr lang="en-US" sz="1600" dirty="0"/>
          </a:p>
        </p:txBody>
      </p:sp>
      <p:sp>
        <p:nvSpPr>
          <p:cNvPr id="26" name="block type"/>
          <p:cNvSpPr/>
          <p:nvPr/>
        </p:nvSpPr>
        <p:spPr>
          <a:xfrm>
            <a:off x="1554480" y="4178808"/>
            <a:ext cx="1188720" cy="329184"/>
          </a:xfrm>
          <a:prstGeom prst="roundRect">
            <a:avLst>
              <a:gd name="adj" fmla="val 22222"/>
            </a:avLst>
          </a:prstGeom>
          <a:solidFill>
            <a:schemeClr val="accent1"/>
          </a:solidFill>
          <a:ln w="12700">
            <a:solidFill>
              <a:schemeClr val="accent1"/>
            </a:solidFill>
            <a:prstDash val="solid"/>
          </a:ln>
        </p:spPr>
      </p:sp>
      <p:sp>
        <p:nvSpPr>
          <p:cNvPr id="27" name="Text 25"/>
          <p:cNvSpPr txBox="1"/>
          <p:nvPr/>
        </p:nvSpPr>
        <p:spPr>
          <a:xfrm>
            <a:off x="1554480" y="4178808"/>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28" name="Text 26"/>
          <p:cNvSpPr txBox="1"/>
          <p:nvPr/>
        </p:nvSpPr>
        <p:spPr>
          <a:xfrm>
            <a:off x="3017520" y="4105656"/>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Managing context and progressive disclosure</a:t>
            </a:r>
            <a:endParaRPr lang="en-US" sz="1800" dirty="0"/>
          </a:p>
        </p:txBody>
      </p:sp>
      <p:sp>
        <p:nvSpPr>
          <p:cNvPr id="29" name="Text 27"/>
          <p:cNvSpPr txBox="1"/>
          <p:nvPr/>
        </p:nvSpPr>
        <p:spPr>
          <a:xfrm>
            <a:off x="9052560" y="4105656"/>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a:t>
            </a:r>
            <a:endParaRPr lang="en-US" sz="1500" dirty="0"/>
          </a:p>
        </p:txBody>
      </p:sp>
      <p:sp>
        <p:nvSpPr>
          <p:cNvPr id="30" name="Text 28"/>
          <p:cNvSpPr txBox="1"/>
          <p:nvPr/>
        </p:nvSpPr>
        <p:spPr>
          <a:xfrm>
            <a:off x="640080" y="4709160"/>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0:46</a:t>
            </a:r>
            <a:endParaRPr lang="en-US" sz="1600" dirty="0"/>
          </a:p>
        </p:txBody>
      </p:sp>
      <p:sp>
        <p:nvSpPr>
          <p:cNvPr id="31" name="block type"/>
          <p:cNvSpPr/>
          <p:nvPr/>
        </p:nvSpPr>
        <p:spPr>
          <a:xfrm>
            <a:off x="1554480" y="4782312"/>
            <a:ext cx="1188720" cy="329184"/>
          </a:xfrm>
          <a:prstGeom prst="roundRect">
            <a:avLst>
              <a:gd name="adj" fmla="val 22222"/>
            </a:avLst>
          </a:prstGeom>
          <a:solidFill>
            <a:schemeClr val="accent2"/>
          </a:solidFill>
          <a:ln w="12700">
            <a:solidFill>
              <a:schemeClr val="accent2"/>
            </a:solidFill>
            <a:prstDash val="solid"/>
          </a:ln>
        </p:spPr>
      </p:sp>
      <p:sp>
        <p:nvSpPr>
          <p:cNvPr id="32" name="Text 30"/>
          <p:cNvSpPr txBox="1"/>
          <p:nvPr/>
        </p:nvSpPr>
        <p:spPr>
          <a:xfrm>
            <a:off x="1554480" y="4782312"/>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33" name="Text 31"/>
          <p:cNvSpPr txBox="1"/>
          <p:nvPr/>
        </p:nvSpPr>
        <p:spPr>
          <a:xfrm>
            <a:off x="3017520" y="4709160"/>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New goal, fresh context, in the Cursor CLI</a:t>
            </a:r>
            <a:endParaRPr lang="en-US" sz="1800" dirty="0"/>
          </a:p>
        </p:txBody>
      </p:sp>
      <p:sp>
        <p:nvSpPr>
          <p:cNvPr id="34" name="Text 32"/>
          <p:cNvSpPr txBox="1"/>
          <p:nvPr/>
        </p:nvSpPr>
        <p:spPr>
          <a:xfrm>
            <a:off x="9052560" y="4709160"/>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 drives</a:t>
            </a:r>
            <a:endParaRPr lang="en-US" sz="1500" dirty="0"/>
          </a:p>
        </p:txBody>
      </p:sp>
      <p:sp>
        <p:nvSpPr>
          <p:cNvPr id="35" name="Text 33"/>
          <p:cNvSpPr txBox="1"/>
          <p:nvPr/>
        </p:nvSpPr>
        <p:spPr>
          <a:xfrm>
            <a:off x="640080" y="5312664"/>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0:54</a:t>
            </a:r>
            <a:endParaRPr lang="en-US" sz="1600" dirty="0"/>
          </a:p>
        </p:txBody>
      </p:sp>
      <p:sp>
        <p:nvSpPr>
          <p:cNvPr id="36" name="block type"/>
          <p:cNvSpPr/>
          <p:nvPr/>
        </p:nvSpPr>
        <p:spPr>
          <a:xfrm>
            <a:off x="1554480" y="5385816"/>
            <a:ext cx="1188720" cy="329184"/>
          </a:xfrm>
          <a:prstGeom prst="roundRect">
            <a:avLst>
              <a:gd name="adj" fmla="val 22222"/>
            </a:avLst>
          </a:prstGeom>
          <a:solidFill>
            <a:schemeClr val="accent2"/>
          </a:solidFill>
          <a:ln w="12700">
            <a:solidFill>
              <a:schemeClr val="accent2"/>
            </a:solidFill>
            <a:prstDash val="solid"/>
          </a:ln>
        </p:spPr>
      </p:sp>
      <p:sp>
        <p:nvSpPr>
          <p:cNvPr id="37" name="Text 35"/>
          <p:cNvSpPr txBox="1"/>
          <p:nvPr/>
        </p:nvSpPr>
        <p:spPr>
          <a:xfrm>
            <a:off x="1554480" y="5385816"/>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38" name="Text 36"/>
          <p:cNvSpPr txBox="1"/>
          <p:nvPr/>
        </p:nvSpPr>
        <p:spPr>
          <a:xfrm>
            <a:off x="3017520" y="5312664"/>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Race results and takeaways</a:t>
            </a:r>
            <a:endParaRPr lang="en-US" sz="1800" dirty="0"/>
          </a:p>
        </p:txBody>
      </p:sp>
      <p:sp>
        <p:nvSpPr>
          <p:cNvPr id="39" name="Text 37"/>
          <p:cNvSpPr txBox="1"/>
          <p:nvPr/>
        </p:nvSpPr>
        <p:spPr>
          <a:xfrm>
            <a:off x="9052560" y="5312664"/>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Both</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Context is a working set, not a warehouse</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Everything below shares one window, and the model re-reads all of it on every turn.</a:t>
            </a:r>
            <a:endParaRPr lang="en-US" sz="1500" dirty="0"/>
          </a:p>
        </p:txBody>
      </p:sp>
      <p:sp>
        <p:nvSpPr>
          <p:cNvPr id="5" name="window segment"/>
          <p:cNvSpPr/>
          <p:nvPr/>
        </p:nvSpPr>
        <p:spPr>
          <a:xfrm>
            <a:off x="640080" y="1691640"/>
            <a:ext cx="1371600" cy="868680"/>
          </a:xfrm>
          <a:prstGeom prst="rect">
            <a:avLst/>
          </a:prstGeom>
          <a:solidFill>
            <a:schemeClr val="accent3"/>
          </a:solidFill>
          <a:ln w="25400">
            <a:solidFill>
              <a:schemeClr val="bg1"/>
            </a:solidFill>
            <a:prstDash val="solid"/>
          </a:ln>
        </p:spPr>
      </p:sp>
      <p:sp>
        <p:nvSpPr>
          <p:cNvPr id="6" name="Text 4"/>
          <p:cNvSpPr txBox="1"/>
          <p:nvPr/>
        </p:nvSpPr>
        <p:spPr>
          <a:xfrm>
            <a:off x="640080" y="1691640"/>
            <a:ext cx="1371600" cy="868680"/>
          </a:xfrm>
          <a:prstGeom prst="rect">
            <a:avLst/>
          </a:prstGeom>
          <a:noFill/>
          <a:ln/>
        </p:spPr>
        <p:txBody>
          <a:bodyPr wrap="square" lIns="0" tIns="0" rIns="0" bIns="0" rtlCol="0" anchor="ctr"/>
          <a:lstStyle/>
          <a:p>
            <a:pPr algn="ctr" indent="0" marL="0">
              <a:buNone/>
            </a:pPr>
            <a:r>
              <a:rPr lang="en-US" sz="1400" b="1" dirty="0">
                <a:solidFill>
                  <a:schemeClr val="bg1"/>
                </a:solidFill>
              </a:rPr>
              <a:t>System + tools</a:t>
            </a:r>
            <a:endParaRPr lang="en-US" sz="1400" dirty="0"/>
          </a:p>
        </p:txBody>
      </p:sp>
      <p:sp>
        <p:nvSpPr>
          <p:cNvPr id="7" name="window segment"/>
          <p:cNvSpPr/>
          <p:nvPr/>
        </p:nvSpPr>
        <p:spPr>
          <a:xfrm>
            <a:off x="2011680" y="1691640"/>
            <a:ext cx="1188720" cy="868680"/>
          </a:xfrm>
          <a:prstGeom prst="rect">
            <a:avLst/>
          </a:prstGeom>
          <a:solidFill>
            <a:schemeClr val="tx2"/>
          </a:solidFill>
          <a:ln w="25400">
            <a:solidFill>
              <a:schemeClr val="bg1"/>
            </a:solidFill>
            <a:prstDash val="solid"/>
          </a:ln>
        </p:spPr>
      </p:sp>
      <p:sp>
        <p:nvSpPr>
          <p:cNvPr id="8" name="Text 6"/>
          <p:cNvSpPr txBox="1"/>
          <p:nvPr/>
        </p:nvSpPr>
        <p:spPr>
          <a:xfrm>
            <a:off x="2011680" y="1691640"/>
            <a:ext cx="1188720" cy="868680"/>
          </a:xfrm>
          <a:prstGeom prst="rect">
            <a:avLst/>
          </a:prstGeom>
          <a:noFill/>
          <a:ln/>
        </p:spPr>
        <p:txBody>
          <a:bodyPr wrap="square" lIns="0" tIns="0" rIns="0" bIns="0" rtlCol="0" anchor="ctr"/>
          <a:lstStyle/>
          <a:p>
            <a:pPr algn="ctr" indent="0" marL="0">
              <a:buNone/>
            </a:pPr>
            <a:r>
              <a:rPr lang="en-US" sz="1400" b="1" dirty="0">
                <a:solidFill>
                  <a:schemeClr val="bg1"/>
                </a:solidFill>
              </a:rPr>
              <a:t>Rules files</a:t>
            </a:r>
            <a:endParaRPr lang="en-US" sz="1400" dirty="0"/>
          </a:p>
        </p:txBody>
      </p:sp>
      <p:sp>
        <p:nvSpPr>
          <p:cNvPr id="9" name="window segment"/>
          <p:cNvSpPr/>
          <p:nvPr/>
        </p:nvSpPr>
        <p:spPr>
          <a:xfrm>
            <a:off x="3200400" y="1691640"/>
            <a:ext cx="822960" cy="868680"/>
          </a:xfrm>
          <a:prstGeom prst="rect">
            <a:avLst/>
          </a:prstGeom>
          <a:solidFill>
            <a:schemeClr val="accent1"/>
          </a:solidFill>
          <a:ln w="25400">
            <a:solidFill>
              <a:schemeClr val="bg1"/>
            </a:solidFill>
            <a:prstDash val="solid"/>
          </a:ln>
        </p:spPr>
      </p:sp>
      <p:sp>
        <p:nvSpPr>
          <p:cNvPr id="10" name="Text 8"/>
          <p:cNvSpPr txBox="1"/>
          <p:nvPr/>
        </p:nvSpPr>
        <p:spPr>
          <a:xfrm>
            <a:off x="3200400" y="1691640"/>
            <a:ext cx="822960" cy="868680"/>
          </a:xfrm>
          <a:prstGeom prst="rect">
            <a:avLst/>
          </a:prstGeom>
          <a:noFill/>
          <a:ln/>
        </p:spPr>
        <p:txBody>
          <a:bodyPr wrap="square" lIns="0" tIns="0" rIns="0" bIns="0" rtlCol="0" anchor="ctr"/>
          <a:lstStyle/>
          <a:p>
            <a:pPr algn="ctr" indent="0" marL="0">
              <a:buNone/>
            </a:pPr>
            <a:r>
              <a:rPr lang="en-US" sz="1400" b="1" dirty="0">
                <a:solidFill>
                  <a:schemeClr val="bg1"/>
                </a:solidFill>
              </a:rPr>
              <a:t>Your prompt</a:t>
            </a:r>
            <a:endParaRPr lang="en-US" sz="1400" dirty="0"/>
          </a:p>
        </p:txBody>
      </p:sp>
      <p:sp>
        <p:nvSpPr>
          <p:cNvPr id="11" name="window segment"/>
          <p:cNvSpPr/>
          <p:nvPr/>
        </p:nvSpPr>
        <p:spPr>
          <a:xfrm>
            <a:off x="4023360" y="1691640"/>
            <a:ext cx="3108960" cy="868680"/>
          </a:xfrm>
          <a:prstGeom prst="rect">
            <a:avLst/>
          </a:prstGeom>
          <a:solidFill>
            <a:schemeClr val="accent2"/>
          </a:solidFill>
          <a:ln w="25400">
            <a:solidFill>
              <a:schemeClr val="bg1"/>
            </a:solidFill>
            <a:prstDash val="solid"/>
          </a:ln>
        </p:spPr>
      </p:sp>
      <p:sp>
        <p:nvSpPr>
          <p:cNvPr id="12" name="Text 10"/>
          <p:cNvSpPr txBox="1"/>
          <p:nvPr/>
        </p:nvSpPr>
        <p:spPr>
          <a:xfrm>
            <a:off x="4023360" y="1691640"/>
            <a:ext cx="3108960" cy="868680"/>
          </a:xfrm>
          <a:prstGeom prst="rect">
            <a:avLst/>
          </a:prstGeom>
          <a:noFill/>
          <a:ln/>
        </p:spPr>
        <p:txBody>
          <a:bodyPr wrap="square" lIns="0" tIns="0" rIns="0" bIns="0" rtlCol="0" anchor="ctr"/>
          <a:lstStyle/>
          <a:p>
            <a:pPr algn="ctr" indent="0" marL="0">
              <a:buNone/>
            </a:pPr>
            <a:r>
              <a:rPr lang="en-US" sz="1400" b="1" dirty="0">
                <a:solidFill>
                  <a:schemeClr val="bg1"/>
                </a:solidFill>
              </a:rPr>
              <a:t>Files it read</a:t>
            </a:r>
            <a:endParaRPr lang="en-US" sz="1400" dirty="0"/>
          </a:p>
        </p:txBody>
      </p:sp>
      <p:sp>
        <p:nvSpPr>
          <p:cNvPr id="13" name="window segment"/>
          <p:cNvSpPr/>
          <p:nvPr/>
        </p:nvSpPr>
        <p:spPr>
          <a:xfrm>
            <a:off x="7132320" y="1691640"/>
            <a:ext cx="2194560" cy="868680"/>
          </a:xfrm>
          <a:prstGeom prst="rect">
            <a:avLst/>
          </a:prstGeom>
          <a:solidFill>
            <a:schemeClr val="accent4"/>
          </a:solidFill>
          <a:ln w="25400">
            <a:solidFill>
              <a:schemeClr val="bg1"/>
            </a:solidFill>
            <a:prstDash val="solid"/>
          </a:ln>
        </p:spPr>
      </p:sp>
      <p:sp>
        <p:nvSpPr>
          <p:cNvPr id="14" name="Text 12"/>
          <p:cNvSpPr txBox="1"/>
          <p:nvPr/>
        </p:nvSpPr>
        <p:spPr>
          <a:xfrm>
            <a:off x="7132320" y="1691640"/>
            <a:ext cx="2194560" cy="868680"/>
          </a:xfrm>
          <a:prstGeom prst="rect">
            <a:avLst/>
          </a:prstGeom>
          <a:noFill/>
          <a:ln/>
        </p:spPr>
        <p:txBody>
          <a:bodyPr wrap="square" lIns="0" tIns="0" rIns="0" bIns="0" rtlCol="0" anchor="ctr"/>
          <a:lstStyle/>
          <a:p>
            <a:pPr algn="ctr" indent="0" marL="0">
              <a:buNone/>
            </a:pPr>
            <a:r>
              <a:rPr lang="en-US" sz="1400" b="1" dirty="0">
                <a:solidFill>
                  <a:schemeClr val="tx1"/>
                </a:solidFill>
              </a:rPr>
              <a:t>Tool output</a:t>
            </a:r>
            <a:endParaRPr lang="en-US" sz="1400" dirty="0"/>
          </a:p>
        </p:txBody>
      </p:sp>
      <p:sp>
        <p:nvSpPr>
          <p:cNvPr id="15" name="window segment"/>
          <p:cNvSpPr/>
          <p:nvPr/>
        </p:nvSpPr>
        <p:spPr>
          <a:xfrm>
            <a:off x="9326880" y="1691640"/>
            <a:ext cx="2194560" cy="868680"/>
          </a:xfrm>
          <a:prstGeom prst="rect">
            <a:avLst/>
          </a:prstGeom>
          <a:solidFill>
            <a:schemeClr val="accent5"/>
          </a:solidFill>
          <a:ln w="25400">
            <a:solidFill>
              <a:schemeClr val="bg1"/>
            </a:solidFill>
            <a:prstDash val="solid"/>
          </a:ln>
        </p:spPr>
      </p:sp>
      <p:sp>
        <p:nvSpPr>
          <p:cNvPr id="16" name="Text 14"/>
          <p:cNvSpPr txBox="1"/>
          <p:nvPr/>
        </p:nvSpPr>
        <p:spPr>
          <a:xfrm>
            <a:off x="9326880" y="1691640"/>
            <a:ext cx="2194560" cy="868680"/>
          </a:xfrm>
          <a:prstGeom prst="rect">
            <a:avLst/>
          </a:prstGeom>
          <a:noFill/>
          <a:ln/>
        </p:spPr>
        <p:txBody>
          <a:bodyPr wrap="square" lIns="0" tIns="0" rIns="0" bIns="0" rtlCol="0" anchor="ctr"/>
          <a:lstStyle/>
          <a:p>
            <a:pPr algn="ctr" indent="0" marL="0">
              <a:buNone/>
            </a:pPr>
            <a:r>
              <a:rPr lang="en-US" sz="1400" b="1" dirty="0">
                <a:solidFill>
                  <a:schemeClr val="tx1"/>
                </a:solidFill>
              </a:rPr>
              <a:t>History</a:t>
            </a:r>
            <a:endParaRPr lang="en-US" sz="1400" dirty="0"/>
          </a:p>
        </p:txBody>
      </p:sp>
      <p:sp>
        <p:nvSpPr>
          <p:cNvPr id="17" name="Text 15"/>
          <p:cNvSpPr txBox="1"/>
          <p:nvPr/>
        </p:nvSpPr>
        <p:spPr>
          <a:xfrm>
            <a:off x="640080" y="2651760"/>
            <a:ext cx="5486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One context window</a:t>
            </a:r>
            <a:endParaRPr lang="en-US" sz="1200" dirty="0"/>
          </a:p>
        </p:txBody>
      </p:sp>
      <p:sp>
        <p:nvSpPr>
          <p:cNvPr id="18" name="glyph circle"/>
          <p:cNvSpPr/>
          <p:nvPr/>
        </p:nvSpPr>
        <p:spPr>
          <a:xfrm>
            <a:off x="640080" y="3154680"/>
            <a:ext cx="457200" cy="457200"/>
          </a:xfrm>
          <a:prstGeom prst="ellipse">
            <a:avLst/>
          </a:prstGeom>
          <a:solidFill>
            <a:schemeClr val="accent1"/>
          </a:solidFill>
          <a:ln w="12700">
            <a:solidFill>
              <a:schemeClr val="accent1"/>
            </a:solidFill>
            <a:prstDash val="solid"/>
          </a:ln>
        </p:spPr>
      </p:sp>
      <p:sp>
        <p:nvSpPr>
          <p:cNvPr id="19" name="Text 17"/>
          <p:cNvSpPr txBox="1"/>
          <p:nvPr/>
        </p:nvSpPr>
        <p:spPr>
          <a:xfrm>
            <a:off x="64008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0" name="Text 18"/>
          <p:cNvSpPr txBox="1"/>
          <p:nvPr/>
        </p:nvSpPr>
        <p:spPr>
          <a:xfrm>
            <a:off x="1325880" y="3118104"/>
            <a:ext cx="9966960" cy="347472"/>
          </a:xfrm>
          <a:prstGeom prst="rect">
            <a:avLst/>
          </a:prstGeom>
          <a:noFill/>
          <a:ln/>
        </p:spPr>
        <p:txBody>
          <a:bodyPr wrap="square" lIns="0" tIns="0" rIns="0" bIns="0" rtlCol="0" anchor="t"/>
          <a:lstStyle/>
          <a:p>
            <a:pPr indent="0" marL="0">
              <a:buNone/>
            </a:pPr>
            <a:r>
              <a:rPr lang="en-US" sz="1700" b="1" dirty="0">
                <a:solidFill>
                  <a:schemeClr val="tx1"/>
                </a:solidFill>
              </a:rPr>
              <a:t>It does not remember your repository</a:t>
            </a:r>
            <a:endParaRPr lang="en-US" sz="1700" dirty="0"/>
          </a:p>
        </p:txBody>
      </p:sp>
      <p:sp>
        <p:nvSpPr>
          <p:cNvPr id="21" name="Text 19"/>
          <p:cNvSpPr txBox="1"/>
          <p:nvPr/>
        </p:nvSpPr>
        <p:spPr>
          <a:xfrm>
            <a:off x="1325880" y="3483864"/>
            <a:ext cx="9966960" cy="548640"/>
          </a:xfrm>
          <a:prstGeom prst="rect">
            <a:avLst/>
          </a:prstGeom>
          <a:noFill/>
          <a:ln/>
        </p:spPr>
        <p:txBody>
          <a:bodyPr wrap="square" lIns="0" tIns="0" rIns="0" bIns="0" rtlCol="0" anchor="t"/>
          <a:lstStyle/>
          <a:p>
            <a:pPr indent="0" marL="0">
              <a:buNone/>
            </a:pPr>
            <a:r>
              <a:rPr lang="en-US" sz="1500" dirty="0">
                <a:solidFill>
                  <a:schemeClr val="accent3"/>
                </a:solidFill>
              </a:rPr>
              <a:t>Each turn starts from this window only. Whatever it had to discover, it pays to discover again next session.</a:t>
            </a:r>
            <a:endParaRPr lang="en-US" sz="1500" dirty="0"/>
          </a:p>
        </p:txBody>
      </p:sp>
      <p:sp>
        <p:nvSpPr>
          <p:cNvPr id="22" name="glyph circle"/>
          <p:cNvSpPr/>
          <p:nvPr/>
        </p:nvSpPr>
        <p:spPr>
          <a:xfrm>
            <a:off x="640080" y="4178808"/>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640080" y="417880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4" name="Text 22"/>
          <p:cNvSpPr txBox="1"/>
          <p:nvPr/>
        </p:nvSpPr>
        <p:spPr>
          <a:xfrm>
            <a:off x="1325880" y="4142232"/>
            <a:ext cx="9966960" cy="347472"/>
          </a:xfrm>
          <a:prstGeom prst="rect">
            <a:avLst/>
          </a:prstGeom>
          <a:noFill/>
          <a:ln/>
        </p:spPr>
        <p:txBody>
          <a:bodyPr wrap="square" lIns="0" tIns="0" rIns="0" bIns="0" rtlCol="0" anchor="t"/>
          <a:lstStyle/>
          <a:p>
            <a:pPr indent="0" marL="0">
              <a:buNone/>
            </a:pPr>
            <a:r>
              <a:rPr lang="en-US" sz="1700" b="1" dirty="0">
                <a:solidFill>
                  <a:schemeClr val="tx1"/>
                </a:solidFill>
              </a:rPr>
              <a:t>Irrelevant material is not neutral</a:t>
            </a:r>
            <a:endParaRPr lang="en-US" sz="1700" dirty="0"/>
          </a:p>
        </p:txBody>
      </p:sp>
      <p:sp>
        <p:nvSpPr>
          <p:cNvPr id="25" name="Text 23"/>
          <p:cNvSpPr txBox="1"/>
          <p:nvPr/>
        </p:nvSpPr>
        <p:spPr>
          <a:xfrm>
            <a:off x="1325880" y="4507992"/>
            <a:ext cx="9966960" cy="548640"/>
          </a:xfrm>
          <a:prstGeom prst="rect">
            <a:avLst/>
          </a:prstGeom>
          <a:noFill/>
          <a:ln/>
        </p:spPr>
        <p:txBody>
          <a:bodyPr wrap="square" lIns="0" tIns="0" rIns="0" bIns="0" rtlCol="0" anchor="t"/>
          <a:lstStyle/>
          <a:p>
            <a:pPr indent="0" marL="0">
              <a:buNone/>
            </a:pPr>
            <a:r>
              <a:rPr lang="en-US" sz="1500" dirty="0">
                <a:solidFill>
                  <a:schemeClr val="accent3"/>
                </a:solidFill>
              </a:rPr>
              <a:t>Every extra file competes with the useful ones and invites the agent to explore further.</a:t>
            </a:r>
            <a:endParaRPr lang="en-US" sz="1500" dirty="0"/>
          </a:p>
        </p:txBody>
      </p:sp>
      <p:sp>
        <p:nvSpPr>
          <p:cNvPr id="26" name="glyph circle"/>
          <p:cNvSpPr/>
          <p:nvPr/>
        </p:nvSpPr>
        <p:spPr>
          <a:xfrm>
            <a:off x="640080" y="5202936"/>
            <a:ext cx="457200" cy="457200"/>
          </a:xfrm>
          <a:prstGeom prst="ellipse">
            <a:avLst/>
          </a:prstGeom>
          <a:solidFill>
            <a:schemeClr val="tx2"/>
          </a:solidFill>
          <a:ln w="12700">
            <a:solidFill>
              <a:schemeClr val="tx2"/>
            </a:solidFill>
            <a:prstDash val="solid"/>
          </a:ln>
        </p:spPr>
      </p:sp>
      <p:sp>
        <p:nvSpPr>
          <p:cNvPr id="27" name="Text 25"/>
          <p:cNvSpPr txBox="1"/>
          <p:nvPr/>
        </p:nvSpPr>
        <p:spPr>
          <a:xfrm>
            <a:off x="640080" y="52029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8" name="Text 26"/>
          <p:cNvSpPr txBox="1"/>
          <p:nvPr/>
        </p:nvSpPr>
        <p:spPr>
          <a:xfrm>
            <a:off x="1325880" y="5166360"/>
            <a:ext cx="9966960" cy="347472"/>
          </a:xfrm>
          <a:prstGeom prst="rect">
            <a:avLst/>
          </a:prstGeom>
          <a:noFill/>
          <a:ln/>
        </p:spPr>
        <p:txBody>
          <a:bodyPr wrap="square" lIns="0" tIns="0" rIns="0" bIns="0" rtlCol="0" anchor="t"/>
          <a:lstStyle/>
          <a:p>
            <a:pPr indent="0" marL="0">
              <a:buNone/>
            </a:pPr>
            <a:r>
              <a:rPr lang="en-US" sz="1700" b="1" dirty="0">
                <a:solidFill>
                  <a:schemeClr val="tx1"/>
                </a:solidFill>
              </a:rPr>
              <a:t>Each turn re-pays for everything before it</a:t>
            </a:r>
            <a:endParaRPr lang="en-US" sz="1700" dirty="0"/>
          </a:p>
        </p:txBody>
      </p:sp>
      <p:sp>
        <p:nvSpPr>
          <p:cNvPr id="29" name="Text 27"/>
          <p:cNvSpPr txBox="1"/>
          <p:nvPr/>
        </p:nvSpPr>
        <p:spPr>
          <a:xfrm>
            <a:off x="1325880" y="5532120"/>
            <a:ext cx="9966960" cy="548640"/>
          </a:xfrm>
          <a:prstGeom prst="rect">
            <a:avLst/>
          </a:prstGeom>
          <a:noFill/>
          <a:ln/>
        </p:spPr>
        <p:txBody>
          <a:bodyPr wrap="square" lIns="0" tIns="0" rIns="0" bIns="0" rtlCol="0" anchor="t"/>
          <a:lstStyle/>
          <a:p>
            <a:pPr indent="0" marL="0">
              <a:buNone/>
            </a:pPr>
            <a:r>
              <a:rPr lang="en-US" sz="1500" dirty="0">
                <a:solidFill>
                  <a:schemeClr val="accent3"/>
                </a:solidFill>
              </a:rPr>
              <a:t>A full test log on turn 3 is still in the window on turn 30. Long chats get slower, pricier and vaguer.</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What reading costs in today's demo repo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parcel-pilot: a small TypeScript order-pricing service with 57 source files and about 120 tests.</a:t>
            </a:r>
            <a:endParaRPr lang="en-US" sz="1500" dirty="0"/>
          </a:p>
        </p:txBody>
      </p:sp>
      <p:sp>
        <p:nvSpPr>
          <p:cNvPr id="5" name="panel"/>
          <p:cNvSpPr/>
          <p:nvPr/>
        </p:nvSpPr>
        <p:spPr>
          <a:xfrm>
            <a:off x="640080" y="1737360"/>
            <a:ext cx="2560320" cy="2377440"/>
          </a:xfrm>
          <a:prstGeom prst="roundRect">
            <a:avLst>
              <a:gd name="adj" fmla="val 3077"/>
            </a:avLst>
          </a:prstGeom>
          <a:solidFill>
            <a:schemeClr val="bg2"/>
          </a:solidFill>
          <a:ln w="12700">
            <a:solidFill>
              <a:schemeClr val="bg2"/>
            </a:solidFill>
            <a:prstDash val="solid"/>
          </a:ln>
        </p:spPr>
      </p:sp>
      <p:sp>
        <p:nvSpPr>
          <p:cNvPr id="6" name="Text 4"/>
          <p:cNvSpPr txBox="1"/>
          <p:nvPr/>
        </p:nvSpPr>
        <p:spPr>
          <a:xfrm>
            <a:off x="868680" y="1920240"/>
            <a:ext cx="2194560" cy="914400"/>
          </a:xfrm>
          <a:prstGeom prst="rect">
            <a:avLst/>
          </a:prstGeom>
          <a:noFill/>
          <a:ln/>
        </p:spPr>
        <p:txBody>
          <a:bodyPr wrap="square" lIns="0" tIns="0" rIns="0" bIns="0" rtlCol="0" anchor="t"/>
          <a:lstStyle/>
          <a:p>
            <a:pPr indent="0" marL="0">
              <a:buNone/>
            </a:pPr>
            <a:r>
              <a:rPr lang="en-US" sz="5400" b="1" dirty="0">
                <a:solidFill>
                  <a:schemeClr val="accent2"/>
                </a:solidFill>
              </a:rPr>
              <a:t>~1.5k</a:t>
            </a:r>
            <a:endParaRPr lang="en-US" sz="5400" dirty="0"/>
          </a:p>
        </p:txBody>
      </p:sp>
      <p:sp>
        <p:nvSpPr>
          <p:cNvPr id="7" name="Text 5"/>
          <p:cNvSpPr txBox="1"/>
          <p:nvPr/>
        </p:nvSpPr>
        <p:spPr>
          <a:xfrm>
            <a:off x="8686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8" name="Text 6"/>
          <p:cNvSpPr txBox="1"/>
          <p:nvPr/>
        </p:nvSpPr>
        <p:spPr>
          <a:xfrm>
            <a:off x="8686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One focused source file</a:t>
            </a:r>
            <a:endParaRPr lang="en-US" sz="1500" dirty="0"/>
          </a:p>
        </p:txBody>
      </p:sp>
      <p:sp>
        <p:nvSpPr>
          <p:cNvPr id="9" name="panel"/>
          <p:cNvSpPr/>
          <p:nvPr/>
        </p:nvSpPr>
        <p:spPr>
          <a:xfrm>
            <a:off x="3383280" y="1737360"/>
            <a:ext cx="256032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3611880" y="1920240"/>
            <a:ext cx="2194560" cy="914400"/>
          </a:xfrm>
          <a:prstGeom prst="rect">
            <a:avLst/>
          </a:prstGeom>
          <a:noFill/>
          <a:ln/>
        </p:spPr>
        <p:txBody>
          <a:bodyPr wrap="square" lIns="0" tIns="0" rIns="0" bIns="0" rtlCol="0" anchor="t"/>
          <a:lstStyle/>
          <a:p>
            <a:pPr indent="0" marL="0">
              <a:buNone/>
            </a:pPr>
            <a:r>
              <a:rPr lang="en-US" sz="5400" b="1" dirty="0">
                <a:solidFill>
                  <a:schemeClr val="accent1"/>
                </a:solidFill>
              </a:rPr>
              <a:t>~30k</a:t>
            </a:r>
            <a:endParaRPr lang="en-US" sz="5400" dirty="0"/>
          </a:p>
        </p:txBody>
      </p:sp>
      <p:sp>
        <p:nvSpPr>
          <p:cNvPr id="11" name="Text 9"/>
          <p:cNvSpPr txBox="1"/>
          <p:nvPr/>
        </p:nvSpPr>
        <p:spPr>
          <a:xfrm>
            <a:off x="36118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12" name="Text 10"/>
          <p:cNvSpPr txBox="1"/>
          <p:nvPr/>
        </p:nvSpPr>
        <p:spPr>
          <a:xfrm>
            <a:off x="36118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All 57 files under src/</a:t>
            </a:r>
            <a:endParaRPr lang="en-US" sz="1500" dirty="0"/>
          </a:p>
        </p:txBody>
      </p:sp>
      <p:sp>
        <p:nvSpPr>
          <p:cNvPr id="13" name="panel"/>
          <p:cNvSpPr/>
          <p:nvPr/>
        </p:nvSpPr>
        <p:spPr>
          <a:xfrm>
            <a:off x="6126480" y="1737360"/>
            <a:ext cx="2560320" cy="2377440"/>
          </a:xfrm>
          <a:prstGeom prst="roundRect">
            <a:avLst>
              <a:gd name="adj" fmla="val 3077"/>
            </a:avLst>
          </a:prstGeom>
          <a:solidFill>
            <a:schemeClr val="bg2"/>
          </a:solidFill>
          <a:ln w="12700">
            <a:solidFill>
              <a:schemeClr val="bg2"/>
            </a:solidFill>
            <a:prstDash val="solid"/>
          </a:ln>
        </p:spPr>
      </p:sp>
      <p:sp>
        <p:nvSpPr>
          <p:cNvPr id="14" name="Text 12"/>
          <p:cNvSpPr txBox="1"/>
          <p:nvPr/>
        </p:nvSpPr>
        <p:spPr>
          <a:xfrm>
            <a:off x="6355080" y="1920240"/>
            <a:ext cx="2194560" cy="914400"/>
          </a:xfrm>
          <a:prstGeom prst="rect">
            <a:avLst/>
          </a:prstGeom>
          <a:noFill/>
          <a:ln/>
        </p:spPr>
        <p:txBody>
          <a:bodyPr wrap="square" lIns="0" tIns="0" rIns="0" bIns="0" rtlCol="0" anchor="t"/>
          <a:lstStyle/>
          <a:p>
            <a:pPr indent="0" marL="0">
              <a:buNone/>
            </a:pPr>
            <a:r>
              <a:rPr lang="en-US" sz="5400" b="1" dirty="0">
                <a:solidFill>
                  <a:schemeClr val="tx2"/>
                </a:solidFill>
              </a:rPr>
              <a:t>~130k</a:t>
            </a:r>
            <a:endParaRPr lang="en-US" sz="5400" dirty="0"/>
          </a:p>
        </p:txBody>
      </p:sp>
      <p:sp>
        <p:nvSpPr>
          <p:cNvPr id="15" name="Text 13"/>
          <p:cNvSpPr txBox="1"/>
          <p:nvPr/>
        </p:nvSpPr>
        <p:spPr>
          <a:xfrm>
            <a:off x="63550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16" name="Text 14"/>
          <p:cNvSpPr txBox="1"/>
          <p:nvPr/>
        </p:nvSpPr>
        <p:spPr>
          <a:xfrm>
            <a:off x="63550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One careless read of the analytics fixture</a:t>
            </a:r>
            <a:endParaRPr lang="en-US" sz="1500" dirty="0"/>
          </a:p>
        </p:txBody>
      </p:sp>
      <p:sp>
        <p:nvSpPr>
          <p:cNvPr id="17" name="panel"/>
          <p:cNvSpPr/>
          <p:nvPr/>
        </p:nvSpPr>
        <p:spPr>
          <a:xfrm>
            <a:off x="8869680" y="1737360"/>
            <a:ext cx="2560320" cy="2377440"/>
          </a:xfrm>
          <a:prstGeom prst="roundRect">
            <a:avLst>
              <a:gd name="adj" fmla="val 3077"/>
            </a:avLst>
          </a:prstGeom>
          <a:solidFill>
            <a:schemeClr val="bg2"/>
          </a:solidFill>
          <a:ln w="12700">
            <a:solidFill>
              <a:schemeClr val="bg2"/>
            </a:solidFill>
            <a:prstDash val="solid"/>
          </a:ln>
        </p:spPr>
      </p:sp>
      <p:sp>
        <p:nvSpPr>
          <p:cNvPr id="18" name="Text 16"/>
          <p:cNvSpPr txBox="1"/>
          <p:nvPr/>
        </p:nvSpPr>
        <p:spPr>
          <a:xfrm>
            <a:off x="9098280" y="1920240"/>
            <a:ext cx="2194560" cy="914400"/>
          </a:xfrm>
          <a:prstGeom prst="rect">
            <a:avLst/>
          </a:prstGeom>
          <a:noFill/>
          <a:ln/>
        </p:spPr>
        <p:txBody>
          <a:bodyPr wrap="square" lIns="0" tIns="0" rIns="0" bIns="0" rtlCol="0" anchor="t"/>
          <a:lstStyle/>
          <a:p>
            <a:pPr indent="0" marL="0">
              <a:buNone/>
            </a:pPr>
            <a:r>
              <a:rPr lang="en-US" sz="5400" b="1" dirty="0">
                <a:solidFill>
                  <a:schemeClr val="tx1"/>
                </a:solidFill>
              </a:rPr>
              <a:t>1</a:t>
            </a:r>
            <a:endParaRPr lang="en-US" sz="5400" dirty="0"/>
          </a:p>
        </p:txBody>
      </p:sp>
      <p:sp>
        <p:nvSpPr>
          <p:cNvPr id="19" name="Text 17"/>
          <p:cNvSpPr txBox="1"/>
          <p:nvPr/>
        </p:nvSpPr>
        <p:spPr>
          <a:xfrm>
            <a:off x="90982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LINE</a:t>
            </a:r>
            <a:endParaRPr lang="en-US" sz="1200" dirty="0"/>
          </a:p>
        </p:txBody>
      </p:sp>
      <p:sp>
        <p:nvSpPr>
          <p:cNvPr id="20" name="Text 18"/>
          <p:cNvSpPr txBox="1"/>
          <p:nvPr/>
        </p:nvSpPr>
        <p:spPr>
          <a:xfrm>
            <a:off x="90982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The actual fix for the tax bug</a:t>
            </a:r>
            <a:endParaRPr lang="en-US" sz="1500" dirty="0"/>
          </a:p>
        </p:txBody>
      </p:sp>
      <p:sp>
        <p:nvSpPr>
          <p:cNvPr id="21" name="Text 19"/>
          <p:cNvSpPr txBox="1"/>
          <p:nvPr/>
        </p:nvSpPr>
        <p:spPr>
          <a:xfrm>
            <a:off x="640080" y="4434840"/>
            <a:ext cx="10881360" cy="365760"/>
          </a:xfrm>
          <a:prstGeom prst="rect">
            <a:avLst/>
          </a:prstGeom>
          <a:noFill/>
          <a:ln/>
        </p:spPr>
        <p:txBody>
          <a:bodyPr wrap="square" lIns="0" tIns="0" rIns="0" bIns="0" rtlCol="0" anchor="t"/>
          <a:lstStyle/>
          <a:p>
            <a:pPr indent="0" marL="0">
              <a:buNone/>
            </a:pPr>
            <a:r>
              <a:rPr lang="en-US" sz="1800" b="1" dirty="0">
                <a:solidFill>
                  <a:schemeClr val="tx1"/>
                </a:solidFill>
              </a:rPr>
              <a:t>The repository is booby-trapped like a real one</a:t>
            </a:r>
            <a:endParaRPr lang="en-US" sz="1800" dirty="0"/>
          </a:p>
        </p:txBody>
      </p:sp>
      <p:sp>
        <p:nvSpPr>
          <p:cNvPr id="22" name="Text 20"/>
          <p:cNvSpPr txBox="1"/>
          <p:nvPr/>
        </p:nvSpPr>
        <p:spPr>
          <a:xfrm>
            <a:off x="640080" y="4846320"/>
            <a:ext cx="10881360" cy="13716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accent3"/>
                </a:solidFill>
              </a:rPr>
              <a:t>archive/ holds retired pricing code that looks current - and is never compiled or tested</a:t>
            </a:r>
            <a:endParaRPr lang="en-US" sz="1500" dirty="0"/>
          </a:p>
          <a:p>
            <a:pPr marL="228600" indent="-228600">
              <a:spcAft>
                <a:spcPts val="600"/>
              </a:spcAft>
              <a:buSzPct val="100000"/>
              <a:buChar char="•"/>
            </a:pPr>
            <a:r>
              <a:rPr lang="en-US" sz="1500" dirty="0">
                <a:solidFill>
                  <a:schemeClr val="accent3"/>
                </a:solidFill>
              </a:rPr>
              <a:t>tax-calculator.ts is the obvious suspect for a tax bug; the bug is somewhere else</a:t>
            </a:r>
            <a:endParaRPr lang="en-US" sz="1500" dirty="0"/>
          </a:p>
          <a:p>
            <a:pPr marL="228600" indent="-228600">
              <a:spcAft>
                <a:spcPts val="600"/>
              </a:spcAft>
              <a:buSzPct val="100000"/>
              <a:buChar char="•"/>
            </a:pPr>
            <a:r>
              <a:rPr lang="en-US" sz="1500" dirty="0">
                <a:solidFill>
                  <a:schemeClr val="accent3"/>
                </a:solidFill>
              </a:rPr>
              <a:t>src/shipping/ has carrier-rates.ts and shipping-selector.ts: right-sounding, wrong for what the customer pays</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Tokens are the smallest of four costs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We are not trying to minimise tokens. We are maximising verified progress per minute, per token and per prompt.</a:t>
            </a:r>
            <a:endParaRPr lang="en-US" sz="1500" dirty="0"/>
          </a:p>
        </p:txBody>
      </p:sp>
      <p:sp>
        <p:nvSpPr>
          <p:cNvPr id="5" name="panel"/>
          <p:cNvSpPr/>
          <p:nvPr/>
        </p:nvSpPr>
        <p:spPr>
          <a:xfrm>
            <a:off x="640080" y="1737360"/>
            <a:ext cx="5349240" cy="1600200"/>
          </a:xfrm>
          <a:prstGeom prst="roundRect">
            <a:avLst>
              <a:gd name="adj" fmla="val 4571"/>
            </a:avLst>
          </a:prstGeom>
          <a:solidFill>
            <a:schemeClr val="bg2"/>
          </a:solidFill>
          <a:ln w="12700">
            <a:solidFill>
              <a:schemeClr val="bg2"/>
            </a:solidFill>
            <a:prstDash val="solid"/>
          </a:ln>
        </p:spPr>
      </p:sp>
      <p:sp>
        <p:nvSpPr>
          <p:cNvPr id="6" name="glyph circle"/>
          <p:cNvSpPr/>
          <p:nvPr/>
        </p:nvSpPr>
        <p:spPr>
          <a:xfrm>
            <a:off x="914400" y="201168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91440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8" name="Text 6"/>
          <p:cNvSpPr txBox="1"/>
          <p:nvPr/>
        </p:nvSpPr>
        <p:spPr>
          <a:xfrm>
            <a:off x="1691640" y="1993392"/>
            <a:ext cx="4023360" cy="365760"/>
          </a:xfrm>
          <a:prstGeom prst="rect">
            <a:avLst/>
          </a:prstGeom>
          <a:noFill/>
          <a:ln/>
        </p:spPr>
        <p:txBody>
          <a:bodyPr wrap="square" lIns="0" tIns="0" rIns="0" bIns="0" rtlCol="0" anchor="t"/>
          <a:lstStyle/>
          <a:p>
            <a:pPr indent="0" marL="0">
              <a:buNone/>
            </a:pPr>
            <a:r>
              <a:rPr lang="en-US" sz="2000" b="1" dirty="0">
                <a:solidFill>
                  <a:schemeClr val="tx1"/>
                </a:solidFill>
              </a:rPr>
              <a:t>Time</a:t>
            </a:r>
            <a:endParaRPr lang="en-US" sz="2000" dirty="0"/>
          </a:p>
        </p:txBody>
      </p:sp>
      <p:sp>
        <p:nvSpPr>
          <p:cNvPr id="9" name="Text 7"/>
          <p:cNvSpPr txBox="1"/>
          <p:nvPr/>
        </p:nvSpPr>
        <p:spPr>
          <a:xfrm>
            <a:off x="1691640" y="242316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Wall-clock minutes to a verified result - not to the first green tick.</a:t>
            </a:r>
            <a:endParaRPr lang="en-US" sz="1500" dirty="0"/>
          </a:p>
        </p:txBody>
      </p:sp>
      <p:sp>
        <p:nvSpPr>
          <p:cNvPr id="10" name="panel"/>
          <p:cNvSpPr/>
          <p:nvPr/>
        </p:nvSpPr>
        <p:spPr>
          <a:xfrm>
            <a:off x="6172200" y="1737360"/>
            <a:ext cx="5349240" cy="1600200"/>
          </a:xfrm>
          <a:prstGeom prst="roundRect">
            <a:avLst>
              <a:gd name="adj" fmla="val 4571"/>
            </a:avLst>
          </a:prstGeom>
          <a:solidFill>
            <a:schemeClr val="bg2"/>
          </a:solidFill>
          <a:ln w="12700">
            <a:solidFill>
              <a:schemeClr val="bg2"/>
            </a:solidFill>
            <a:prstDash val="solid"/>
          </a:ln>
        </p:spPr>
      </p:sp>
      <p:sp>
        <p:nvSpPr>
          <p:cNvPr id="11" name="glyph circle"/>
          <p:cNvSpPr/>
          <p:nvPr/>
        </p:nvSpPr>
        <p:spPr>
          <a:xfrm>
            <a:off x="6446520" y="201168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644652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3" name="Text 11"/>
          <p:cNvSpPr txBox="1"/>
          <p:nvPr/>
        </p:nvSpPr>
        <p:spPr>
          <a:xfrm>
            <a:off x="7223760" y="1993392"/>
            <a:ext cx="4023360" cy="365760"/>
          </a:xfrm>
          <a:prstGeom prst="rect">
            <a:avLst/>
          </a:prstGeom>
          <a:noFill/>
          <a:ln/>
        </p:spPr>
        <p:txBody>
          <a:bodyPr wrap="square" lIns="0" tIns="0" rIns="0" bIns="0" rtlCol="0" anchor="t"/>
          <a:lstStyle/>
          <a:p>
            <a:pPr indent="0" marL="0">
              <a:buNone/>
            </a:pPr>
            <a:r>
              <a:rPr lang="en-US" sz="2000" b="1" dirty="0">
                <a:solidFill>
                  <a:schemeClr val="tx1"/>
                </a:solidFill>
              </a:rPr>
              <a:t>Context</a:t>
            </a:r>
            <a:endParaRPr lang="en-US" sz="2000" dirty="0"/>
          </a:p>
        </p:txBody>
      </p:sp>
      <p:sp>
        <p:nvSpPr>
          <p:cNvPr id="14" name="Text 12"/>
          <p:cNvSpPr txBox="1"/>
          <p:nvPr/>
        </p:nvSpPr>
        <p:spPr>
          <a:xfrm>
            <a:off x="7223760" y="242316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How much of the window is used, and by what. Bloat makes answers worse, not just pricier.</a:t>
            </a:r>
            <a:endParaRPr lang="en-US" sz="1500" dirty="0"/>
          </a:p>
        </p:txBody>
      </p:sp>
      <p:sp>
        <p:nvSpPr>
          <p:cNvPr id="15" name="panel"/>
          <p:cNvSpPr/>
          <p:nvPr/>
        </p:nvSpPr>
        <p:spPr>
          <a:xfrm>
            <a:off x="640080" y="3520440"/>
            <a:ext cx="5349240" cy="1600200"/>
          </a:xfrm>
          <a:prstGeom prst="roundRect">
            <a:avLst>
              <a:gd name="adj" fmla="val 4571"/>
            </a:avLst>
          </a:prstGeom>
          <a:solidFill>
            <a:schemeClr val="bg2"/>
          </a:solidFill>
          <a:ln w="12700">
            <a:solidFill>
              <a:schemeClr val="bg2"/>
            </a:solidFill>
            <a:prstDash val="solid"/>
          </a:ln>
        </p:spPr>
      </p:sp>
      <p:sp>
        <p:nvSpPr>
          <p:cNvPr id="16" name="glyph circle"/>
          <p:cNvSpPr/>
          <p:nvPr/>
        </p:nvSpPr>
        <p:spPr>
          <a:xfrm>
            <a:off x="914400" y="3794760"/>
            <a:ext cx="548640" cy="548640"/>
          </a:xfrm>
          <a:prstGeom prst="ellipse">
            <a:avLst/>
          </a:prstGeom>
          <a:solidFill>
            <a:schemeClr val="tx2"/>
          </a:solidFill>
          <a:ln w="12700">
            <a:solidFill>
              <a:schemeClr val="tx2"/>
            </a:solidFill>
            <a:prstDash val="solid"/>
          </a:ln>
        </p:spPr>
      </p:sp>
      <p:sp>
        <p:nvSpPr>
          <p:cNvPr id="17" name="Text 15"/>
          <p:cNvSpPr txBox="1"/>
          <p:nvPr/>
        </p:nvSpPr>
        <p:spPr>
          <a:xfrm>
            <a:off x="9144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8" name="Text 16"/>
          <p:cNvSpPr txBox="1"/>
          <p:nvPr/>
        </p:nvSpPr>
        <p:spPr>
          <a:xfrm>
            <a:off x="1691640" y="3776472"/>
            <a:ext cx="4023360" cy="365760"/>
          </a:xfrm>
          <a:prstGeom prst="rect">
            <a:avLst/>
          </a:prstGeom>
          <a:noFill/>
          <a:ln/>
        </p:spPr>
        <p:txBody>
          <a:bodyPr wrap="square" lIns="0" tIns="0" rIns="0" bIns="0" rtlCol="0" anchor="t"/>
          <a:lstStyle/>
          <a:p>
            <a:pPr indent="0" marL="0">
              <a:buNone/>
            </a:pPr>
            <a:r>
              <a:rPr lang="en-US" sz="2000" b="1" dirty="0">
                <a:solidFill>
                  <a:schemeClr val="tx1"/>
                </a:solidFill>
              </a:rPr>
              <a:t>Interaction</a:t>
            </a:r>
            <a:endParaRPr lang="en-US" sz="2000" dirty="0"/>
          </a:p>
        </p:txBody>
      </p:sp>
      <p:sp>
        <p:nvSpPr>
          <p:cNvPr id="19" name="Text 17"/>
          <p:cNvSpPr txBox="1"/>
          <p:nvPr/>
        </p:nvSpPr>
        <p:spPr>
          <a:xfrm>
            <a:off x="1691640" y="420624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Every corrective prompt you type: "no, not that file" is a cost you pay twice.</a:t>
            </a:r>
            <a:endParaRPr lang="en-US" sz="1500" dirty="0"/>
          </a:p>
        </p:txBody>
      </p:sp>
      <p:sp>
        <p:nvSpPr>
          <p:cNvPr id="20" name="panel"/>
          <p:cNvSpPr/>
          <p:nvPr/>
        </p:nvSpPr>
        <p:spPr>
          <a:xfrm>
            <a:off x="6172200" y="3520440"/>
            <a:ext cx="5349240" cy="1600200"/>
          </a:xfrm>
          <a:prstGeom prst="roundRect">
            <a:avLst>
              <a:gd name="adj" fmla="val 4571"/>
            </a:avLst>
          </a:prstGeom>
          <a:solidFill>
            <a:schemeClr val="bg2"/>
          </a:solidFill>
          <a:ln w="12700">
            <a:solidFill>
              <a:schemeClr val="bg2"/>
            </a:solidFill>
            <a:prstDash val="solid"/>
          </a:ln>
        </p:spPr>
      </p:sp>
      <p:sp>
        <p:nvSpPr>
          <p:cNvPr id="21" name="glyph circle"/>
          <p:cNvSpPr/>
          <p:nvPr/>
        </p:nvSpPr>
        <p:spPr>
          <a:xfrm>
            <a:off x="6446520" y="3794760"/>
            <a:ext cx="548640" cy="548640"/>
          </a:xfrm>
          <a:prstGeom prst="ellipse">
            <a:avLst/>
          </a:prstGeom>
          <a:solidFill>
            <a:schemeClr val="accent3"/>
          </a:solidFill>
          <a:ln w="12700">
            <a:solidFill>
              <a:schemeClr val="accent3"/>
            </a:solidFill>
            <a:prstDash val="solid"/>
          </a:ln>
        </p:spPr>
      </p:sp>
      <p:sp>
        <p:nvSpPr>
          <p:cNvPr id="22" name="Text 20"/>
          <p:cNvSpPr txBox="1"/>
          <p:nvPr/>
        </p:nvSpPr>
        <p:spPr>
          <a:xfrm>
            <a:off x="644652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3" name="Text 21"/>
          <p:cNvSpPr txBox="1"/>
          <p:nvPr/>
        </p:nvSpPr>
        <p:spPr>
          <a:xfrm>
            <a:off x="7223760" y="3776472"/>
            <a:ext cx="4023360" cy="365760"/>
          </a:xfrm>
          <a:prstGeom prst="rect">
            <a:avLst/>
          </a:prstGeom>
          <a:noFill/>
          <a:ln/>
        </p:spPr>
        <p:txBody>
          <a:bodyPr wrap="square" lIns="0" tIns="0" rIns="0" bIns="0" rtlCol="0" anchor="t"/>
          <a:lstStyle/>
          <a:p>
            <a:pPr indent="0" marL="0">
              <a:buNone/>
            </a:pPr>
            <a:r>
              <a:rPr lang="en-US" sz="2000" b="1" dirty="0">
                <a:solidFill>
                  <a:schemeClr val="tx1"/>
                </a:solidFill>
              </a:rPr>
              <a:t>Rework</a:t>
            </a:r>
            <a:endParaRPr lang="en-US" sz="2000" dirty="0"/>
          </a:p>
        </p:txBody>
      </p:sp>
      <p:sp>
        <p:nvSpPr>
          <p:cNvPr id="24" name="Text 22"/>
          <p:cNvSpPr txBox="1"/>
          <p:nvPr/>
        </p:nvSpPr>
        <p:spPr>
          <a:xfrm>
            <a:off x="7223760" y="420624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Changes to files that never needed to change - and the review time they burn.</a:t>
            </a:r>
            <a:endParaRPr lang="en-US" sz="1500" dirty="0"/>
          </a:p>
        </p:txBody>
      </p:sp>
      <p:sp>
        <p:nvSpPr>
          <p:cNvPr id="25" name="panel"/>
          <p:cNvSpPr/>
          <p:nvPr/>
        </p:nvSpPr>
        <p:spPr>
          <a:xfrm>
            <a:off x="640080" y="5486400"/>
            <a:ext cx="10881360" cy="594360"/>
          </a:xfrm>
          <a:prstGeom prst="roundRect">
            <a:avLst>
              <a:gd name="adj" fmla="val 12308"/>
            </a:avLst>
          </a:prstGeom>
          <a:solidFill>
            <a:schemeClr val="bg2"/>
          </a:solidFill>
          <a:ln w="12700">
            <a:solidFill>
              <a:schemeClr val="bg2"/>
            </a:solidFill>
            <a:prstDash val="solid"/>
          </a:ln>
        </p:spPr>
      </p:sp>
      <p:sp>
        <p:nvSpPr>
          <p:cNvPr id="26" name="Text 24"/>
          <p:cNvSpPr txBox="1"/>
          <p:nvPr/>
        </p:nvSpPr>
        <p:spPr>
          <a:xfrm>
            <a:off x="868680" y="5486400"/>
            <a:ext cx="10424160" cy="594360"/>
          </a:xfrm>
          <a:prstGeom prst="rect">
            <a:avLst/>
          </a:prstGeom>
          <a:noFill/>
          <a:ln/>
        </p:spPr>
        <p:txBody>
          <a:bodyPr wrap="square" lIns="0" tIns="0" rIns="0" bIns="0" rtlCol="0" anchor="ctr"/>
          <a:lstStyle/>
          <a:p>
            <a:pPr indent="0" marL="0">
              <a:buNone/>
            </a:pPr>
            <a:r>
              <a:rPr lang="en-US" sz="1500" b="1" dirty="0">
                <a:solidFill>
                  <a:schemeClr val="tx2"/>
                </a:solidFill>
              </a:rPr>
              <a:t>A cheap session that ships the wrong change is the most expensive outcome there is.</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How we'll keep score in every demo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Tool-neutral numbers you can count yourself, in Cursor or Claude Code.</a:t>
            </a:r>
            <a:endParaRPr lang="en-US" sz="1500" dirty="0"/>
          </a:p>
        </p:txBody>
      </p:sp>
      <p:graphicFrame>
        <p:nvGraphicFramePr>
          <p:cNvPr id="8" name="score table"/>
          <p:cNvGraphicFramePr>
            <a:graphicFrameLocks noGrp="1"/>
          </p:cNvGraphicFramePr>
          <p:nvPr>
            <p:extLst>
              <p:ext uri="{D42A27DB-BD31-4B8C-83A1-F6EECF244321}">
                <p14:modId xmlns:p14="http://schemas.microsoft.com/office/powerpoint/2010/main" val="1579011935"/>
              </p:ext>
            </p:extLst>
          </p:nvPr>
        </p:nvGraphicFramePr>
        <p:xfrm>
          <a:off x="640080" y="1691640"/>
          <a:ext cx="6766560" cy="914400"/>
        </p:xfrm>
        <a:graphic>
          <a:graphicData uri="http://schemas.openxmlformats.org/drawingml/2006/table">
            <a:tbl>
              <a:tblPr/>
              <a:tblGrid>
                <a:gridCol w="3017520"/>
                <a:gridCol w="3749040"/>
              </a:tblGrid>
              <a:tr h="512064">
                <a:tc>
                  <a:txBody>
                    <a:bodyPr/>
                    <a:lstStyle/>
                    <a:p>
                      <a:pPr indent="0" marL="0">
                        <a:buNone/>
                      </a:pPr>
                      <a:r>
                        <a:rPr lang="en-US" sz="1400" b="1" dirty="0">
                          <a:solidFill>
                            <a:schemeClr val="bg1"/>
                          </a:solidFill>
                        </a:rPr>
                        <a:t>Metric</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 it matters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rPr>
                        <a:t>Files read / files that mattered</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The single best signal of a wandering agent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Prompts, and how many were corrections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Corrections mean the first prompt left something out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Full vs. focused test runs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A full suite log sits in context for the rest of the chat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Files changed that didn't need to</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Rework and review cost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Context % at the end</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Claude Code: /context · Cursor CLI: context % status line</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Hidden verification passed?</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Correctness - the cost that actually hurts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panel"/>
          <p:cNvSpPr/>
          <p:nvPr/>
        </p:nvSpPr>
        <p:spPr>
          <a:xfrm>
            <a:off x="7772400" y="1691640"/>
            <a:ext cx="3749040" cy="3584448"/>
          </a:xfrm>
          <a:prstGeom prst="roundRect">
            <a:avLst>
              <a:gd name="adj" fmla="val 2041"/>
            </a:avLst>
          </a:prstGeom>
          <a:solidFill>
            <a:schemeClr val="bg2"/>
          </a:solidFill>
          <a:ln w="12700">
            <a:solidFill>
              <a:schemeClr val="bg2"/>
            </a:solidFill>
            <a:prstDash val="solid"/>
          </a:ln>
        </p:spPr>
      </p:sp>
      <p:sp>
        <p:nvSpPr>
          <p:cNvPr id="7" name="Text 4"/>
          <p:cNvSpPr txBox="1"/>
          <p:nvPr/>
        </p:nvSpPr>
        <p:spPr>
          <a:xfrm>
            <a:off x="8046720" y="1920240"/>
            <a:ext cx="3200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THE HEADLINE RATIO</a:t>
            </a:r>
            <a:endParaRPr lang="en-US" sz="1200" dirty="0"/>
          </a:p>
        </p:txBody>
      </p:sp>
      <p:sp>
        <p:nvSpPr>
          <p:cNvPr id="8" name="Text 5"/>
          <p:cNvSpPr txBox="1"/>
          <p:nvPr/>
        </p:nvSpPr>
        <p:spPr>
          <a:xfrm>
            <a:off x="8046720" y="2240280"/>
            <a:ext cx="3200400" cy="914400"/>
          </a:xfrm>
          <a:prstGeom prst="rect">
            <a:avLst/>
          </a:prstGeom>
          <a:noFill/>
          <a:ln/>
        </p:spPr>
        <p:txBody>
          <a:bodyPr wrap="square" lIns="0" tIns="0" rIns="0" bIns="0" rtlCol="0" anchor="t"/>
          <a:lstStyle/>
          <a:p>
            <a:pPr indent="0" marL="0">
              <a:buNone/>
            </a:pPr>
            <a:r>
              <a:rPr lang="en-US" sz="6000" b="1" dirty="0">
                <a:solidFill>
                  <a:schemeClr val="accent2"/>
                </a:solidFill>
              </a:rPr>
              <a:t>≥ 70%</a:t>
            </a:r>
            <a:endParaRPr lang="en-US" sz="6000" dirty="0"/>
          </a:p>
        </p:txBody>
      </p:sp>
      <p:sp>
        <p:nvSpPr>
          <p:cNvPr id="9" name="Text 6"/>
          <p:cNvSpPr txBox="1"/>
          <p:nvPr/>
        </p:nvSpPr>
        <p:spPr>
          <a:xfrm>
            <a:off x="8046720" y="3246120"/>
            <a:ext cx="3200400" cy="640080"/>
          </a:xfrm>
          <a:prstGeom prst="rect">
            <a:avLst/>
          </a:prstGeom>
          <a:noFill/>
          <a:ln/>
        </p:spPr>
        <p:txBody>
          <a:bodyPr wrap="square" lIns="0" tIns="0" rIns="0" bIns="0" rtlCol="0" anchor="t"/>
          <a:lstStyle/>
          <a:p>
            <a:pPr indent="0" marL="0">
              <a:buNone/>
            </a:pPr>
            <a:r>
              <a:rPr lang="en-US" sz="1700" b="1" dirty="0">
                <a:solidFill>
                  <a:schemeClr val="tx1"/>
                </a:solidFill>
              </a:rPr>
              <a:t>relevant files read ÷ total files read</a:t>
            </a:r>
            <a:endParaRPr lang="en-US" sz="1700" dirty="0"/>
          </a:p>
        </p:txBody>
      </p:sp>
      <p:sp>
        <p:nvSpPr>
          <p:cNvPr id="10" name="Text 7"/>
          <p:cNvSpPr txBox="1"/>
          <p:nvPr/>
        </p:nvSpPr>
        <p:spPr>
          <a:xfrm>
            <a:off x="8046720" y="3977640"/>
            <a:ext cx="3200400" cy="1097280"/>
          </a:xfrm>
          <a:prstGeom prst="rect">
            <a:avLst/>
          </a:prstGeom>
          <a:noFill/>
          <a:ln/>
        </p:spPr>
        <p:txBody>
          <a:bodyPr wrap="square" lIns="0" tIns="0" rIns="0" bIns="0" rtlCol="0" anchor="t"/>
          <a:lstStyle/>
          <a:p>
            <a:pPr indent="0" marL="0">
              <a:buNone/>
            </a:pPr>
            <a:r>
              <a:rPr lang="en-US" sz="1500" dirty="0">
                <a:solidFill>
                  <a:schemeClr val="accent3"/>
                </a:solidFill>
              </a:rPr>
              <a:t>If most of what the agent opened didn't matter, the prompt didn't say what you knew.</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1 · EUGENE</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1 · Vibe it</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Claude Code · fresh session · no hints, no file names, no test command</a:t>
            </a:r>
            <a:endParaRPr lang="en-US" sz="1600" dirty="0"/>
          </a:p>
        </p:txBody>
      </p:sp>
      <p:sp>
        <p:nvSpPr>
          <p:cNvPr id="5" name="Text 3"/>
          <p:cNvSpPr txBox="1"/>
          <p:nvPr/>
        </p:nvSpPr>
        <p:spPr>
          <a:xfrm>
            <a:off x="640080" y="2286000"/>
            <a:ext cx="603504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THE PROMPTS</a:t>
            </a:r>
            <a:endParaRPr lang="en-US" sz="1200" dirty="0"/>
          </a:p>
        </p:txBody>
      </p:sp>
      <p:sp>
        <p:nvSpPr>
          <p:cNvPr id="6" name="panel"/>
          <p:cNvSpPr/>
          <p:nvPr/>
        </p:nvSpPr>
        <p:spPr>
          <a:xfrm>
            <a:off x="640080" y="2606040"/>
            <a:ext cx="6035040" cy="1417320"/>
          </a:xfrm>
          <a:prstGeom prst="roundRect">
            <a:avLst>
              <a:gd name="adj" fmla="val 5161"/>
            </a:avLst>
          </a:prstGeom>
          <a:solidFill>
            <a:schemeClr val="tx1"/>
          </a:solidFill>
          <a:ln w="12700">
            <a:solidFill>
              <a:schemeClr val="tx1"/>
            </a:solidFill>
            <a:prstDash val="solid"/>
          </a:ln>
        </p:spPr>
      </p:sp>
      <p:sp>
        <p:nvSpPr>
          <p:cNvPr id="7" name="code"/>
          <p:cNvSpPr txBox="1"/>
          <p:nvPr/>
        </p:nvSpPr>
        <p:spPr>
          <a:xfrm>
            <a:off x="868680" y="2770632"/>
            <a:ext cx="5577840" cy="1088136"/>
          </a:xfrm>
          <a:prstGeom prst="rect">
            <a:avLst/>
          </a:prstGeom>
          <a:noFill/>
          <a:ln/>
        </p:spPr>
        <p:txBody>
          <a:bodyPr wrap="square" lIns="0" tIns="0" rIns="0" bIns="0" rtlCol="0" anchor="t"/>
          <a:lstStyle/>
          <a:p>
            <a:pPr indent="0" marL="0">
              <a:buNone/>
            </a:pPr>
            <a:r>
              <a:rPr lang="en-US" sz="1600" dirty="0">
                <a:solidFill>
                  <a:schemeClr val="bg2"/>
                </a:solidFill>
                <a:latin typeface="Consolas" pitchFamily="34" charset="0"/>
                <a:ea typeface="Consolas" pitchFamily="34" charset="-122"/>
                <a:cs typeface="Consolas" pitchFamily="34" charset="-120"/>
              </a:rPr>
              <a:t>An order with a percentage discount is</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charged too much tax. Fix the bug and</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make the tests pass.</a:t>
            </a:r>
            <a:endParaRPr lang="en-US" sz="1600" dirty="0"/>
          </a:p>
        </p:txBody>
      </p:sp>
      <p:sp>
        <p:nvSpPr>
          <p:cNvPr id="8" name="Text 6"/>
          <p:cNvSpPr txBox="1"/>
          <p:nvPr/>
        </p:nvSpPr>
        <p:spPr>
          <a:xfrm>
            <a:off x="640080" y="4160520"/>
            <a:ext cx="6035040" cy="274320"/>
          </a:xfrm>
          <a:prstGeom prst="rect">
            <a:avLst/>
          </a:prstGeom>
          <a:noFill/>
          <a:ln/>
        </p:spPr>
        <p:txBody>
          <a:bodyPr wrap="square" lIns="0" tIns="0" rIns="0" bIns="0" rtlCol="0" anchor="t"/>
          <a:lstStyle/>
          <a:p>
            <a:pPr indent="0" marL="0">
              <a:buNone/>
            </a:pPr>
            <a:r>
              <a:rPr lang="en-US" sz="1400" dirty="0">
                <a:solidFill>
                  <a:schemeClr val="accent5"/>
                </a:solidFill>
              </a:rPr>
              <a:t>then, in the same chat:</a:t>
            </a:r>
            <a:endParaRPr lang="en-US" sz="1400" dirty="0"/>
          </a:p>
        </p:txBody>
      </p:sp>
      <p:sp>
        <p:nvSpPr>
          <p:cNvPr id="9" name="panel"/>
          <p:cNvSpPr/>
          <p:nvPr/>
        </p:nvSpPr>
        <p:spPr>
          <a:xfrm>
            <a:off x="640080" y="4480560"/>
            <a:ext cx="6035040" cy="1097280"/>
          </a:xfrm>
          <a:prstGeom prst="roundRect">
            <a:avLst>
              <a:gd name="adj" fmla="val 6667"/>
            </a:avLst>
          </a:prstGeom>
          <a:solidFill>
            <a:schemeClr val="tx1"/>
          </a:solidFill>
          <a:ln w="12700">
            <a:solidFill>
              <a:schemeClr val="tx1"/>
            </a:solidFill>
            <a:prstDash val="solid"/>
          </a:ln>
        </p:spPr>
      </p:sp>
      <p:sp>
        <p:nvSpPr>
          <p:cNvPr id="10" name="code"/>
          <p:cNvSpPr txBox="1"/>
          <p:nvPr/>
        </p:nvSpPr>
        <p:spPr>
          <a:xfrm>
            <a:off x="868680" y="4645152"/>
            <a:ext cx="5577840" cy="768096"/>
          </a:xfrm>
          <a:prstGeom prst="rect">
            <a:avLst/>
          </a:prstGeom>
          <a:noFill/>
          <a:ln/>
        </p:spPr>
        <p:txBody>
          <a:bodyPr wrap="square" lIns="0" tIns="0" rIns="0" bIns="0" rtlCol="0" anchor="t"/>
          <a:lstStyle/>
          <a:p>
            <a:pPr indent="0" marL="0">
              <a:buNone/>
            </a:pPr>
            <a:r>
              <a:rPr lang="en-US" sz="1600" dirty="0">
                <a:solidFill>
                  <a:schemeClr val="bg2"/>
                </a:solidFill>
                <a:latin typeface="Consolas" pitchFamily="34" charset="0"/>
                <a:ea typeface="Consolas" pitchFamily="34" charset="-122"/>
                <a:cs typeface="Consolas" pitchFamily="34" charset="-120"/>
              </a:rPr>
              <a:t>Also, make shipping free on orders</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over £100.</a:t>
            </a:r>
            <a:endParaRPr lang="en-US" sz="1600" dirty="0"/>
          </a:p>
        </p:txBody>
      </p:sp>
      <p:sp>
        <p:nvSpPr>
          <p:cNvPr id="11"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12" name="Text 10"/>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WATCH FOR</a:t>
            </a:r>
            <a:endParaRPr lang="en-US" sz="1200" dirty="0"/>
          </a:p>
        </p:txBody>
      </p:sp>
      <p:sp>
        <p:nvSpPr>
          <p:cNvPr id="13" name="Text 11"/>
          <p:cNvSpPr txBox="1"/>
          <p:nvPr/>
        </p:nvSpPr>
        <p:spPr>
          <a:xfrm>
            <a:off x="7360920" y="2880360"/>
            <a:ext cx="3931920" cy="310896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chemeClr val="bg1"/>
                </a:solidFill>
              </a:rPr>
              <a:t>How many files it opens (1 matters)</a:t>
            </a:r>
            <a:endParaRPr lang="en-US" sz="1600" dirty="0"/>
          </a:p>
          <a:p>
            <a:pPr marL="228600" indent="-228600">
              <a:spcAft>
                <a:spcPts val="900"/>
              </a:spcAft>
              <a:buSzPct val="100000"/>
              <a:buChar char="•"/>
            </a:pPr>
            <a:r>
              <a:rPr lang="en-US" sz="1600" dirty="0">
                <a:solidFill>
                  <a:schemeClr val="bg1"/>
                </a:solidFill>
              </a:rPr>
              <a:t>archive/ or the 130k fixture</a:t>
            </a:r>
            <a:endParaRPr lang="en-US" sz="1600" dirty="0"/>
          </a:p>
          <a:p>
            <a:pPr marL="228600" indent="-228600">
              <a:spcAft>
                <a:spcPts val="900"/>
              </a:spcAft>
              <a:buSzPct val="100000"/>
              <a:buChar char="•"/>
            </a:pPr>
            <a:r>
              <a:rPr lang="en-US" sz="1600" dirty="0">
                <a:solidFill>
                  <a:schemeClr val="bg1"/>
                </a:solidFill>
              </a:rPr>
              <a:t>Full test-suite runs</a:t>
            </a:r>
            <a:endParaRPr lang="en-US" sz="1600" dirty="0"/>
          </a:p>
          <a:p>
            <a:pPr marL="228600" indent="-228600">
              <a:spcAft>
                <a:spcPts val="900"/>
              </a:spcAft>
              <a:buSzPct val="100000"/>
              <a:buChar char="•"/>
            </a:pPr>
            <a:r>
              <a:rPr lang="en-US" sz="1600" dirty="0">
                <a:solidFill>
                  <a:schemeClr val="bg1"/>
                </a:solidFill>
              </a:rPr>
              <a:t>Exactly £100: free, or still £5?</a:t>
            </a:r>
            <a:endParaRPr lang="en-US" sz="1600" dirty="0"/>
          </a:p>
          <a:p>
            <a:pPr marL="228600" indent="-228600">
              <a:spcAft>
                <a:spcPts val="900"/>
              </a:spcAft>
              <a:buSzPct val="100000"/>
              <a:buChar char="•"/>
            </a:pPr>
            <a:r>
              <a:rPr lang="en-US" sz="1600" dirty="0">
                <a:solidFill>
                  <a:schemeClr val="bg1"/>
                </a:solidFill>
              </a:rPr>
              <a:t>Express: did it go free too?</a:t>
            </a:r>
            <a:endParaRPr lang="en-US" sz="1600" dirty="0"/>
          </a:p>
          <a:p>
            <a:pPr marL="228600" indent="-228600">
              <a:spcAft>
                <a:spcPts val="900"/>
              </a:spcAft>
              <a:buSzPct val="100000"/>
              <a:buChar char="•"/>
            </a:pPr>
            <a:r>
              <a:rPr lang="en-US" sz="1600" dirty="0">
                <a:solidFill>
                  <a:schemeClr val="bg1"/>
                </a:solidFill>
              </a:rPr>
              <a:t>Hidden check, then context %</a:t>
            </a:r>
            <a:endParaRPr lang="en-US" sz="16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It wasn't the model's fault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Six vibe-coding habits that turn a one-line fix into an expensive session.</a:t>
            </a:r>
            <a:endParaRPr lang="en-US" sz="1500" dirty="0"/>
          </a:p>
        </p:txBody>
      </p:sp>
      <p:sp>
        <p:nvSpPr>
          <p:cNvPr id="5" name="panel"/>
          <p:cNvSpPr/>
          <p:nvPr/>
        </p:nvSpPr>
        <p:spPr>
          <a:xfrm>
            <a:off x="640080" y="1691640"/>
            <a:ext cx="5349240" cy="1188720"/>
          </a:xfrm>
          <a:prstGeom prst="roundRect">
            <a:avLst>
              <a:gd name="adj" fmla="val 6154"/>
            </a:avLst>
          </a:prstGeom>
          <a:solidFill>
            <a:schemeClr val="bg2"/>
          </a:solidFill>
          <a:ln w="12700">
            <a:solidFill>
              <a:schemeClr val="bg2"/>
            </a:solidFill>
            <a:prstDash val="solid"/>
          </a:ln>
        </p:spPr>
      </p:sp>
      <p:sp>
        <p:nvSpPr>
          <p:cNvPr id="6" name="glyph circle"/>
          <p:cNvSpPr/>
          <p:nvPr/>
        </p:nvSpPr>
        <p:spPr>
          <a:xfrm>
            <a:off x="868680" y="1920240"/>
            <a:ext cx="411480" cy="411480"/>
          </a:xfrm>
          <a:prstGeom prst="ellipse">
            <a:avLst/>
          </a:prstGeom>
          <a:solidFill>
            <a:schemeClr val="accent3"/>
          </a:solidFill>
          <a:ln w="12700">
            <a:solidFill>
              <a:schemeClr val="accent3"/>
            </a:solidFill>
            <a:prstDash val="solid"/>
          </a:ln>
        </p:spPr>
      </p:sp>
      <p:sp>
        <p:nvSpPr>
          <p:cNvPr id="7" name="Text 5"/>
          <p:cNvSpPr txBox="1"/>
          <p:nvPr/>
        </p:nvSpPr>
        <p:spPr>
          <a:xfrm>
            <a:off x="868680" y="19202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Text 6"/>
          <p:cNvSpPr txBox="1"/>
          <p:nvPr/>
        </p:nvSpPr>
        <p:spPr>
          <a:xfrm>
            <a:off x="1508760" y="1874520"/>
            <a:ext cx="4297680" cy="347472"/>
          </a:xfrm>
          <a:prstGeom prst="rect">
            <a:avLst/>
          </a:prstGeom>
          <a:noFill/>
          <a:ln/>
        </p:spPr>
        <p:txBody>
          <a:bodyPr wrap="square" lIns="0" tIns="0" rIns="0" bIns="0" rtlCol="0" anchor="t"/>
          <a:lstStyle/>
          <a:p>
            <a:pPr indent="0" marL="0">
              <a:buNone/>
            </a:pPr>
            <a:r>
              <a:rPr lang="en-US" sz="1700" b="1" dirty="0">
                <a:solidFill>
                  <a:schemeClr val="tx1"/>
                </a:solidFill>
              </a:rPr>
              <a:t>"Fix it" prompts</a:t>
            </a:r>
            <a:endParaRPr lang="en-US" sz="1700" dirty="0"/>
          </a:p>
        </p:txBody>
      </p:sp>
      <p:sp>
        <p:nvSpPr>
          <p:cNvPr id="9" name="Text 7"/>
          <p:cNvSpPr txBox="1"/>
          <p:nvPr/>
        </p:nvSpPr>
        <p:spPr>
          <a:xfrm>
            <a:off x="1508760" y="224028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The agent has to rediscover what you already knew: the file, the rule, the test.</a:t>
            </a:r>
            <a:endParaRPr lang="en-US" sz="1400" dirty="0"/>
          </a:p>
        </p:txBody>
      </p:sp>
      <p:sp>
        <p:nvSpPr>
          <p:cNvPr id="10" name="panel"/>
          <p:cNvSpPr/>
          <p:nvPr/>
        </p:nvSpPr>
        <p:spPr>
          <a:xfrm>
            <a:off x="6172200" y="1691640"/>
            <a:ext cx="5349240" cy="1188720"/>
          </a:xfrm>
          <a:prstGeom prst="roundRect">
            <a:avLst>
              <a:gd name="adj" fmla="val 6154"/>
            </a:avLst>
          </a:prstGeom>
          <a:solidFill>
            <a:schemeClr val="bg2"/>
          </a:solidFill>
          <a:ln w="12700">
            <a:solidFill>
              <a:schemeClr val="bg2"/>
            </a:solidFill>
            <a:prstDash val="solid"/>
          </a:ln>
        </p:spPr>
      </p:sp>
      <p:sp>
        <p:nvSpPr>
          <p:cNvPr id="11" name="glyph circle"/>
          <p:cNvSpPr/>
          <p:nvPr/>
        </p:nvSpPr>
        <p:spPr>
          <a:xfrm>
            <a:off x="6400800" y="1920240"/>
            <a:ext cx="411480" cy="411480"/>
          </a:xfrm>
          <a:prstGeom prst="ellipse">
            <a:avLst/>
          </a:prstGeom>
          <a:solidFill>
            <a:schemeClr val="accent3"/>
          </a:solidFill>
          <a:ln w="12700">
            <a:solidFill>
              <a:schemeClr val="accent3"/>
            </a:solidFill>
            <a:prstDash val="solid"/>
          </a:ln>
        </p:spPr>
      </p:sp>
      <p:sp>
        <p:nvSpPr>
          <p:cNvPr id="12" name="Text 10"/>
          <p:cNvSpPr txBox="1"/>
          <p:nvPr/>
        </p:nvSpPr>
        <p:spPr>
          <a:xfrm>
            <a:off x="6400800" y="19202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Text 11"/>
          <p:cNvSpPr txBox="1"/>
          <p:nvPr/>
        </p:nvSpPr>
        <p:spPr>
          <a:xfrm>
            <a:off x="7040880" y="1874520"/>
            <a:ext cx="4297680" cy="347472"/>
          </a:xfrm>
          <a:prstGeom prst="rect">
            <a:avLst/>
          </a:prstGeom>
          <a:noFill/>
          <a:ln/>
        </p:spPr>
        <p:txBody>
          <a:bodyPr wrap="square" lIns="0" tIns="0" rIns="0" bIns="0" rtlCol="0" anchor="t"/>
          <a:lstStyle/>
          <a:p>
            <a:pPr indent="0" marL="0">
              <a:buNone/>
            </a:pPr>
            <a:r>
              <a:rPr lang="en-US" sz="1700" b="1" dirty="0">
                <a:solidFill>
                  <a:schemeClr val="tx1"/>
                </a:solidFill>
              </a:rPr>
              <a:t>One chat for every goal</a:t>
            </a:r>
            <a:endParaRPr lang="en-US" sz="1700" dirty="0"/>
          </a:p>
        </p:txBody>
      </p:sp>
      <p:sp>
        <p:nvSpPr>
          <p:cNvPr id="14" name="Text 12"/>
          <p:cNvSpPr txBox="1"/>
          <p:nvPr/>
        </p:nvSpPr>
        <p:spPr>
          <a:xfrm>
            <a:off x="7040880" y="224028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Pricing context is still in the window while it works on notifications.</a:t>
            </a:r>
            <a:endParaRPr lang="en-US" sz="1400" dirty="0"/>
          </a:p>
        </p:txBody>
      </p:sp>
      <p:sp>
        <p:nvSpPr>
          <p:cNvPr id="15" name="panel"/>
          <p:cNvSpPr/>
          <p:nvPr/>
        </p:nvSpPr>
        <p:spPr>
          <a:xfrm>
            <a:off x="640080" y="3017520"/>
            <a:ext cx="5349240" cy="1188720"/>
          </a:xfrm>
          <a:prstGeom prst="roundRect">
            <a:avLst>
              <a:gd name="adj" fmla="val 6154"/>
            </a:avLst>
          </a:prstGeom>
          <a:solidFill>
            <a:schemeClr val="bg2"/>
          </a:solidFill>
          <a:ln w="12700">
            <a:solidFill>
              <a:schemeClr val="bg2"/>
            </a:solidFill>
            <a:prstDash val="solid"/>
          </a:ln>
        </p:spPr>
      </p:sp>
      <p:sp>
        <p:nvSpPr>
          <p:cNvPr id="16" name="glyph circle"/>
          <p:cNvSpPr/>
          <p:nvPr/>
        </p:nvSpPr>
        <p:spPr>
          <a:xfrm>
            <a:off x="868680" y="3246120"/>
            <a:ext cx="411480" cy="411480"/>
          </a:xfrm>
          <a:prstGeom prst="ellipse">
            <a:avLst/>
          </a:prstGeom>
          <a:solidFill>
            <a:schemeClr val="accent3"/>
          </a:solidFill>
          <a:ln w="12700">
            <a:solidFill>
              <a:schemeClr val="accent3"/>
            </a:solidFill>
            <a:prstDash val="solid"/>
          </a:ln>
        </p:spPr>
      </p:sp>
      <p:sp>
        <p:nvSpPr>
          <p:cNvPr id="17" name="Text 15"/>
          <p:cNvSpPr txBox="1"/>
          <p:nvPr/>
        </p:nvSpPr>
        <p:spPr>
          <a:xfrm>
            <a:off x="868680" y="32461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6"/>
          <p:cNvSpPr txBox="1"/>
          <p:nvPr/>
        </p:nvSpPr>
        <p:spPr>
          <a:xfrm>
            <a:off x="1508760" y="3200400"/>
            <a:ext cx="4297680" cy="347472"/>
          </a:xfrm>
          <a:prstGeom prst="rect">
            <a:avLst/>
          </a:prstGeom>
          <a:noFill/>
          <a:ln/>
        </p:spPr>
        <p:txBody>
          <a:bodyPr wrap="square" lIns="0" tIns="0" rIns="0" bIns="0" rtlCol="0" anchor="t"/>
          <a:lstStyle/>
          <a:p>
            <a:pPr indent="0" marL="0">
              <a:buNone/>
            </a:pPr>
            <a:r>
              <a:rPr lang="en-US" sz="1700" b="1" dirty="0">
                <a:solidFill>
                  <a:schemeClr val="tx1"/>
                </a:solidFill>
              </a:rPr>
              <a:t>Attach the folder, just in case</a:t>
            </a:r>
            <a:endParaRPr lang="en-US" sz="1700" dirty="0"/>
          </a:p>
        </p:txBody>
      </p:sp>
      <p:sp>
        <p:nvSpPr>
          <p:cNvPr id="19" name="Text 17"/>
          <p:cNvSpPr txBox="1"/>
          <p:nvPr/>
        </p:nvSpPr>
        <p:spPr>
          <a:xfrm>
            <a:off x="1508760" y="356616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Attach a symbol before a file, a file before a folder, a folder almost never.</a:t>
            </a:r>
            <a:endParaRPr lang="en-US" sz="1400" dirty="0"/>
          </a:p>
        </p:txBody>
      </p:sp>
      <p:sp>
        <p:nvSpPr>
          <p:cNvPr id="20" name="panel"/>
          <p:cNvSpPr/>
          <p:nvPr/>
        </p:nvSpPr>
        <p:spPr>
          <a:xfrm>
            <a:off x="6172200" y="3017520"/>
            <a:ext cx="5349240" cy="1188720"/>
          </a:xfrm>
          <a:prstGeom prst="roundRect">
            <a:avLst>
              <a:gd name="adj" fmla="val 6154"/>
            </a:avLst>
          </a:prstGeom>
          <a:solidFill>
            <a:schemeClr val="bg2"/>
          </a:solidFill>
          <a:ln w="12700">
            <a:solidFill>
              <a:schemeClr val="bg2"/>
            </a:solidFill>
            <a:prstDash val="solid"/>
          </a:ln>
        </p:spPr>
      </p:sp>
      <p:sp>
        <p:nvSpPr>
          <p:cNvPr id="21" name="glyph circle"/>
          <p:cNvSpPr/>
          <p:nvPr/>
        </p:nvSpPr>
        <p:spPr>
          <a:xfrm>
            <a:off x="6400800" y="3246120"/>
            <a:ext cx="411480" cy="411480"/>
          </a:xfrm>
          <a:prstGeom prst="ellipse">
            <a:avLst/>
          </a:prstGeom>
          <a:solidFill>
            <a:schemeClr val="accent3"/>
          </a:solidFill>
          <a:ln w="12700">
            <a:solidFill>
              <a:schemeClr val="accent3"/>
            </a:solidFill>
            <a:prstDash val="solid"/>
          </a:ln>
        </p:spPr>
      </p:sp>
      <p:sp>
        <p:nvSpPr>
          <p:cNvPr id="22" name="Text 20"/>
          <p:cNvSpPr txBox="1"/>
          <p:nvPr/>
        </p:nvSpPr>
        <p:spPr>
          <a:xfrm>
            <a:off x="6400800" y="32461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Text 21"/>
          <p:cNvSpPr txBox="1"/>
          <p:nvPr/>
        </p:nvSpPr>
        <p:spPr>
          <a:xfrm>
            <a:off x="7040880" y="3200400"/>
            <a:ext cx="4297680" cy="347472"/>
          </a:xfrm>
          <a:prstGeom prst="rect">
            <a:avLst/>
          </a:prstGeom>
          <a:noFill/>
          <a:ln/>
        </p:spPr>
        <p:txBody>
          <a:bodyPr wrap="square" lIns="0" tIns="0" rIns="0" bIns="0" rtlCol="0" anchor="t"/>
          <a:lstStyle/>
          <a:p>
            <a:pPr indent="0" marL="0">
              <a:buNone/>
            </a:pPr>
            <a:r>
              <a:rPr lang="en-US" sz="1700" b="1" dirty="0">
                <a:solidFill>
                  <a:schemeClr val="tx1"/>
                </a:solidFill>
              </a:rPr>
              <a:t>Full test suite every turn</a:t>
            </a:r>
            <a:endParaRPr lang="en-US" sz="1700" dirty="0"/>
          </a:p>
        </p:txBody>
      </p:sp>
      <p:sp>
        <p:nvSpPr>
          <p:cNvPr id="24" name="Text 22"/>
          <p:cNvSpPr txBox="1"/>
          <p:nvPr/>
        </p:nvSpPr>
        <p:spPr>
          <a:xfrm>
            <a:off x="7040880" y="356616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120 tests of output re-read on every later turn. Run the narrowest test first.</a:t>
            </a:r>
            <a:endParaRPr lang="en-US" sz="1400" dirty="0"/>
          </a:p>
        </p:txBody>
      </p:sp>
      <p:sp>
        <p:nvSpPr>
          <p:cNvPr id="25" name="panel"/>
          <p:cNvSpPr/>
          <p:nvPr/>
        </p:nvSpPr>
        <p:spPr>
          <a:xfrm>
            <a:off x="640080" y="4343400"/>
            <a:ext cx="5349240" cy="1188720"/>
          </a:xfrm>
          <a:prstGeom prst="roundRect">
            <a:avLst>
              <a:gd name="adj" fmla="val 6154"/>
            </a:avLst>
          </a:prstGeom>
          <a:solidFill>
            <a:schemeClr val="bg2"/>
          </a:solidFill>
          <a:ln w="12700">
            <a:solidFill>
              <a:schemeClr val="bg2"/>
            </a:solidFill>
            <a:prstDash val="solid"/>
          </a:ln>
        </p:spPr>
      </p:sp>
      <p:sp>
        <p:nvSpPr>
          <p:cNvPr id="26" name="glyph circle"/>
          <p:cNvSpPr/>
          <p:nvPr/>
        </p:nvSpPr>
        <p:spPr>
          <a:xfrm>
            <a:off x="868680" y="4572000"/>
            <a:ext cx="411480" cy="411480"/>
          </a:xfrm>
          <a:prstGeom prst="ellipse">
            <a:avLst/>
          </a:prstGeom>
          <a:solidFill>
            <a:schemeClr val="accent3"/>
          </a:solidFill>
          <a:ln w="12700">
            <a:solidFill>
              <a:schemeClr val="accent3"/>
            </a:solidFill>
            <a:prstDash val="solid"/>
          </a:ln>
        </p:spPr>
      </p:sp>
      <p:sp>
        <p:nvSpPr>
          <p:cNvPr id="27" name="Text 25"/>
          <p:cNvSpPr txBox="1"/>
          <p:nvPr/>
        </p:nvSpPr>
        <p:spPr>
          <a:xfrm>
            <a:off x="868680" y="4572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Text 26"/>
          <p:cNvSpPr txBox="1"/>
          <p:nvPr/>
        </p:nvSpPr>
        <p:spPr>
          <a:xfrm>
            <a:off x="1508760" y="4526280"/>
            <a:ext cx="4297680" cy="347472"/>
          </a:xfrm>
          <a:prstGeom prst="rect">
            <a:avLst/>
          </a:prstGeom>
          <a:noFill/>
          <a:ln/>
        </p:spPr>
        <p:txBody>
          <a:bodyPr wrap="square" lIns="0" tIns="0" rIns="0" bIns="0" rtlCol="0" anchor="t"/>
          <a:lstStyle/>
          <a:p>
            <a:pPr indent="0" marL="0">
              <a:buNone/>
            </a:pPr>
            <a:r>
              <a:rPr lang="en-US" sz="1700" b="1" dirty="0">
                <a:solidFill>
                  <a:schemeClr val="tx1"/>
                </a:solidFill>
              </a:rPr>
              <a:t>The correction spiral</a:t>
            </a:r>
            <a:endParaRPr lang="en-US" sz="1700" dirty="0"/>
          </a:p>
        </p:txBody>
      </p:sp>
      <p:sp>
        <p:nvSpPr>
          <p:cNvPr id="29" name="Text 27"/>
          <p:cNvSpPr txBox="1"/>
          <p:nvPr/>
        </p:nvSpPr>
        <p:spPr>
          <a:xfrm>
            <a:off x="1508760" y="489204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Five "no, not that" prompts cost more than one good first prompt.</a:t>
            </a:r>
            <a:endParaRPr lang="en-US" sz="1400" dirty="0"/>
          </a:p>
        </p:txBody>
      </p:sp>
      <p:sp>
        <p:nvSpPr>
          <p:cNvPr id="30" name="panel"/>
          <p:cNvSpPr/>
          <p:nvPr/>
        </p:nvSpPr>
        <p:spPr>
          <a:xfrm>
            <a:off x="6172200" y="4343400"/>
            <a:ext cx="5349240" cy="1188720"/>
          </a:xfrm>
          <a:prstGeom prst="roundRect">
            <a:avLst>
              <a:gd name="adj" fmla="val 6154"/>
            </a:avLst>
          </a:prstGeom>
          <a:solidFill>
            <a:schemeClr val="bg2"/>
          </a:solidFill>
          <a:ln w="12700">
            <a:solidFill>
              <a:schemeClr val="bg2"/>
            </a:solidFill>
            <a:prstDash val="solid"/>
          </a:ln>
        </p:spPr>
      </p:sp>
      <p:sp>
        <p:nvSpPr>
          <p:cNvPr id="31" name="glyph circle"/>
          <p:cNvSpPr/>
          <p:nvPr/>
        </p:nvSpPr>
        <p:spPr>
          <a:xfrm>
            <a:off x="6400800" y="4572000"/>
            <a:ext cx="411480" cy="411480"/>
          </a:xfrm>
          <a:prstGeom prst="ellipse">
            <a:avLst/>
          </a:prstGeom>
          <a:solidFill>
            <a:schemeClr val="accent3"/>
          </a:solidFill>
          <a:ln w="12700">
            <a:solidFill>
              <a:schemeClr val="accent3"/>
            </a:solidFill>
            <a:prstDash val="solid"/>
          </a:ln>
        </p:spPr>
      </p:sp>
      <p:sp>
        <p:nvSpPr>
          <p:cNvPr id="32" name="Text 30"/>
          <p:cNvSpPr txBox="1"/>
          <p:nvPr/>
        </p:nvSpPr>
        <p:spPr>
          <a:xfrm>
            <a:off x="6400800" y="4572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3" name="Text 31"/>
          <p:cNvSpPr txBox="1"/>
          <p:nvPr/>
        </p:nvSpPr>
        <p:spPr>
          <a:xfrm>
            <a:off x="7040880" y="4526280"/>
            <a:ext cx="4297680" cy="347472"/>
          </a:xfrm>
          <a:prstGeom prst="rect">
            <a:avLst/>
          </a:prstGeom>
          <a:noFill/>
          <a:ln/>
        </p:spPr>
        <p:txBody>
          <a:bodyPr wrap="square" lIns="0" tIns="0" rIns="0" bIns="0" rtlCol="0" anchor="t"/>
          <a:lstStyle/>
          <a:p>
            <a:pPr indent="0" marL="0">
              <a:buNone/>
            </a:pPr>
            <a:r>
              <a:rPr lang="en-US" sz="1700" b="1" dirty="0">
                <a:solidFill>
                  <a:schemeClr val="tx1"/>
                </a:solidFill>
              </a:rPr>
              <a:t>Strongest model for everything</a:t>
            </a:r>
            <a:endParaRPr lang="en-US" sz="1700" dirty="0"/>
          </a:p>
        </p:txBody>
      </p:sp>
      <p:sp>
        <p:nvSpPr>
          <p:cNvPr id="34" name="Text 32"/>
          <p:cNvSpPr txBox="1"/>
          <p:nvPr/>
        </p:nvSpPr>
        <p:spPr>
          <a:xfrm>
            <a:off x="7040880" y="489204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Max mode on a rename is paying a surgeon to put on a plaster.</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disciplined loop</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Five verbs. Each one replaces something the agent would otherwise pay to discover or repair.</a:t>
            </a:r>
            <a:endParaRPr lang="en-US" sz="1500" dirty="0"/>
          </a:p>
        </p:txBody>
      </p:sp>
      <p:sp>
        <p:nvSpPr>
          <p:cNvPr id="5" name="panel"/>
          <p:cNvSpPr/>
          <p:nvPr/>
        </p:nvSpPr>
        <p:spPr>
          <a:xfrm>
            <a:off x="640080" y="1783080"/>
            <a:ext cx="2029968" cy="3200400"/>
          </a:xfrm>
          <a:prstGeom prst="roundRect">
            <a:avLst>
              <a:gd name="adj" fmla="val 3604"/>
            </a:avLst>
          </a:prstGeom>
          <a:solidFill>
            <a:schemeClr val="bg2"/>
          </a:solidFill>
          <a:ln w="12700">
            <a:solidFill>
              <a:schemeClr val="bg2"/>
            </a:solidFill>
            <a:prstDash val="solid"/>
          </a:ln>
        </p:spPr>
      </p:sp>
      <p:sp>
        <p:nvSpPr>
          <p:cNvPr id="6" name="glyph circle"/>
          <p:cNvSpPr/>
          <p:nvPr/>
        </p:nvSpPr>
        <p:spPr>
          <a:xfrm>
            <a:off x="868680" y="201168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868680"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6"/>
          <p:cNvSpPr txBox="1"/>
          <p:nvPr/>
        </p:nvSpPr>
        <p:spPr>
          <a:xfrm>
            <a:off x="868680" y="2697480"/>
            <a:ext cx="1645920" cy="457200"/>
          </a:xfrm>
          <a:prstGeom prst="rect">
            <a:avLst/>
          </a:prstGeom>
          <a:noFill/>
          <a:ln/>
        </p:spPr>
        <p:txBody>
          <a:bodyPr wrap="square" lIns="0" tIns="0" rIns="0" bIns="0" rtlCol="0" anchor="t"/>
          <a:lstStyle/>
          <a:p>
            <a:pPr indent="0" marL="0">
              <a:buNone/>
            </a:pPr>
            <a:r>
              <a:rPr lang="en-US" sz="2400" b="1" dirty="0">
                <a:solidFill>
                  <a:schemeClr val="accent1"/>
                </a:solidFill>
              </a:rPr>
              <a:t>Aim</a:t>
            </a:r>
            <a:endParaRPr lang="en-US" sz="2400" dirty="0"/>
          </a:p>
        </p:txBody>
      </p:sp>
      <p:sp>
        <p:nvSpPr>
          <p:cNvPr id="9" name="Text 7"/>
          <p:cNvSpPr txBox="1"/>
          <p:nvPr/>
        </p:nvSpPr>
        <p:spPr>
          <a:xfrm>
            <a:off x="868680"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Write a six-part prompt: goal, acceptance, files, constraints, plan?, verify.</a:t>
            </a:r>
            <a:endParaRPr lang="en-US" sz="1500" dirty="0"/>
          </a:p>
        </p:txBody>
      </p:sp>
      <p:sp>
        <p:nvSpPr>
          <p:cNvPr id="10" name="Text 8"/>
          <p:cNvSpPr txBox="1"/>
          <p:nvPr/>
        </p:nvSpPr>
        <p:spPr>
          <a:xfrm>
            <a:off x="2651760"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1" name="panel"/>
          <p:cNvSpPr/>
          <p:nvPr/>
        </p:nvSpPr>
        <p:spPr>
          <a:xfrm>
            <a:off x="2852928" y="1783080"/>
            <a:ext cx="2029968" cy="3200400"/>
          </a:xfrm>
          <a:prstGeom prst="roundRect">
            <a:avLst>
              <a:gd name="adj" fmla="val 3604"/>
            </a:avLst>
          </a:prstGeom>
          <a:solidFill>
            <a:schemeClr val="bg2"/>
          </a:solidFill>
          <a:ln w="12700">
            <a:solidFill>
              <a:schemeClr val="bg2"/>
            </a:solidFill>
            <a:prstDash val="solid"/>
          </a:ln>
        </p:spPr>
      </p:sp>
      <p:sp>
        <p:nvSpPr>
          <p:cNvPr id="12" name="glyph circle"/>
          <p:cNvSpPr/>
          <p:nvPr/>
        </p:nvSpPr>
        <p:spPr>
          <a:xfrm>
            <a:off x="3081528" y="2011680"/>
            <a:ext cx="548640" cy="548640"/>
          </a:xfrm>
          <a:prstGeom prst="ellipse">
            <a:avLst/>
          </a:prstGeom>
          <a:solidFill>
            <a:schemeClr val="tx2"/>
          </a:solidFill>
          <a:ln w="12700">
            <a:solidFill>
              <a:schemeClr val="tx2"/>
            </a:solidFill>
            <a:prstDash val="solid"/>
          </a:ln>
        </p:spPr>
      </p:sp>
      <p:sp>
        <p:nvSpPr>
          <p:cNvPr id="13" name="Text 11"/>
          <p:cNvSpPr txBox="1"/>
          <p:nvPr/>
        </p:nvSpPr>
        <p:spPr>
          <a:xfrm>
            <a:off x="3081528"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Text 12"/>
          <p:cNvSpPr txBox="1"/>
          <p:nvPr/>
        </p:nvSpPr>
        <p:spPr>
          <a:xfrm>
            <a:off x="3081528" y="2697480"/>
            <a:ext cx="1645920" cy="457200"/>
          </a:xfrm>
          <a:prstGeom prst="rect">
            <a:avLst/>
          </a:prstGeom>
          <a:noFill/>
          <a:ln/>
        </p:spPr>
        <p:txBody>
          <a:bodyPr wrap="square" lIns="0" tIns="0" rIns="0" bIns="0" rtlCol="0" anchor="t"/>
          <a:lstStyle/>
          <a:p>
            <a:pPr indent="0" marL="0">
              <a:buNone/>
            </a:pPr>
            <a:r>
              <a:rPr lang="en-US" sz="2400" b="1" dirty="0">
                <a:solidFill>
                  <a:schemeClr val="tx2"/>
                </a:solidFill>
              </a:rPr>
              <a:t>Plan</a:t>
            </a:r>
            <a:endParaRPr lang="en-US" sz="2400" dirty="0"/>
          </a:p>
        </p:txBody>
      </p:sp>
      <p:sp>
        <p:nvSpPr>
          <p:cNvPr id="15" name="Text 13"/>
          <p:cNvSpPr txBox="1"/>
          <p:nvPr/>
        </p:nvSpPr>
        <p:spPr>
          <a:xfrm>
            <a:off x="3081528"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Make its thinking visible. Review it; then it's the contract.</a:t>
            </a:r>
            <a:endParaRPr lang="en-US" sz="1500" dirty="0"/>
          </a:p>
        </p:txBody>
      </p:sp>
      <p:sp>
        <p:nvSpPr>
          <p:cNvPr id="16" name="Text 14"/>
          <p:cNvSpPr txBox="1"/>
          <p:nvPr/>
        </p:nvSpPr>
        <p:spPr>
          <a:xfrm>
            <a:off x="4864608"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7" name="panel"/>
          <p:cNvSpPr/>
          <p:nvPr/>
        </p:nvSpPr>
        <p:spPr>
          <a:xfrm>
            <a:off x="5065776" y="1783080"/>
            <a:ext cx="2029968" cy="3200400"/>
          </a:xfrm>
          <a:prstGeom prst="roundRect">
            <a:avLst>
              <a:gd name="adj" fmla="val 3604"/>
            </a:avLst>
          </a:prstGeom>
          <a:solidFill>
            <a:schemeClr val="bg2"/>
          </a:solidFill>
          <a:ln w="12700">
            <a:solidFill>
              <a:schemeClr val="bg2"/>
            </a:solidFill>
            <a:prstDash val="solid"/>
          </a:ln>
        </p:spPr>
      </p:sp>
      <p:sp>
        <p:nvSpPr>
          <p:cNvPr id="18" name="glyph circle"/>
          <p:cNvSpPr/>
          <p:nvPr/>
        </p:nvSpPr>
        <p:spPr>
          <a:xfrm>
            <a:off x="5294376" y="2011680"/>
            <a:ext cx="548640" cy="548640"/>
          </a:xfrm>
          <a:prstGeom prst="ellipse">
            <a:avLst/>
          </a:prstGeom>
          <a:solidFill>
            <a:schemeClr val="accent2"/>
          </a:solidFill>
          <a:ln w="12700">
            <a:solidFill>
              <a:schemeClr val="accent2"/>
            </a:solidFill>
            <a:prstDash val="solid"/>
          </a:ln>
        </p:spPr>
      </p:sp>
      <p:sp>
        <p:nvSpPr>
          <p:cNvPr id="19" name="Text 17"/>
          <p:cNvSpPr txBox="1"/>
          <p:nvPr/>
        </p:nvSpPr>
        <p:spPr>
          <a:xfrm>
            <a:off x="5294376"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0" name="Text 18"/>
          <p:cNvSpPr txBox="1"/>
          <p:nvPr/>
        </p:nvSpPr>
        <p:spPr>
          <a:xfrm>
            <a:off x="5294376" y="2697480"/>
            <a:ext cx="1645920" cy="457200"/>
          </a:xfrm>
          <a:prstGeom prst="rect">
            <a:avLst/>
          </a:prstGeom>
          <a:noFill/>
          <a:ln/>
        </p:spPr>
        <p:txBody>
          <a:bodyPr wrap="square" lIns="0" tIns="0" rIns="0" bIns="0" rtlCol="0" anchor="t"/>
          <a:lstStyle/>
          <a:p>
            <a:pPr indent="0" marL="0">
              <a:buNone/>
            </a:pPr>
            <a:r>
              <a:rPr lang="en-US" sz="2400" b="1" dirty="0">
                <a:solidFill>
                  <a:schemeClr val="accent2"/>
                </a:solidFill>
              </a:rPr>
              <a:t>Build</a:t>
            </a:r>
            <a:endParaRPr lang="en-US" sz="2400" dirty="0"/>
          </a:p>
        </p:txBody>
      </p:sp>
      <p:sp>
        <p:nvSpPr>
          <p:cNvPr id="21" name="Text 19"/>
          <p:cNvSpPr txBox="1"/>
          <p:nvPr/>
        </p:nvSpPr>
        <p:spPr>
          <a:xfrm>
            <a:off x="5294376"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Agent mode with the plan approved. No drive-by refactors.</a:t>
            </a:r>
            <a:endParaRPr lang="en-US" sz="1500" dirty="0"/>
          </a:p>
        </p:txBody>
      </p:sp>
      <p:sp>
        <p:nvSpPr>
          <p:cNvPr id="22" name="Text 20"/>
          <p:cNvSpPr txBox="1"/>
          <p:nvPr/>
        </p:nvSpPr>
        <p:spPr>
          <a:xfrm>
            <a:off x="7077456"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3" name="panel"/>
          <p:cNvSpPr/>
          <p:nvPr/>
        </p:nvSpPr>
        <p:spPr>
          <a:xfrm>
            <a:off x="7278624" y="1783080"/>
            <a:ext cx="2029968" cy="3200400"/>
          </a:xfrm>
          <a:prstGeom prst="roundRect">
            <a:avLst>
              <a:gd name="adj" fmla="val 3604"/>
            </a:avLst>
          </a:prstGeom>
          <a:solidFill>
            <a:schemeClr val="bg2"/>
          </a:solidFill>
          <a:ln w="12700">
            <a:solidFill>
              <a:schemeClr val="bg2"/>
            </a:solidFill>
            <a:prstDash val="solid"/>
          </a:ln>
        </p:spPr>
      </p:sp>
      <p:sp>
        <p:nvSpPr>
          <p:cNvPr id="24" name="glyph circle"/>
          <p:cNvSpPr/>
          <p:nvPr/>
        </p:nvSpPr>
        <p:spPr>
          <a:xfrm>
            <a:off x="7507224" y="2011680"/>
            <a:ext cx="548640" cy="548640"/>
          </a:xfrm>
          <a:prstGeom prst="ellipse">
            <a:avLst/>
          </a:prstGeom>
          <a:solidFill>
            <a:schemeClr val="accent3"/>
          </a:solidFill>
          <a:ln w="12700">
            <a:solidFill>
              <a:schemeClr val="accent3"/>
            </a:solidFill>
            <a:prstDash val="solid"/>
          </a:ln>
        </p:spPr>
      </p:sp>
      <p:sp>
        <p:nvSpPr>
          <p:cNvPr id="25" name="Text 23"/>
          <p:cNvSpPr txBox="1"/>
          <p:nvPr/>
        </p:nvSpPr>
        <p:spPr>
          <a:xfrm>
            <a:off x="7507224"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6" name="Text 24"/>
          <p:cNvSpPr txBox="1"/>
          <p:nvPr/>
        </p:nvSpPr>
        <p:spPr>
          <a:xfrm>
            <a:off x="7507224" y="2697480"/>
            <a:ext cx="1645920" cy="457200"/>
          </a:xfrm>
          <a:prstGeom prst="rect">
            <a:avLst/>
          </a:prstGeom>
          <a:noFill/>
          <a:ln/>
        </p:spPr>
        <p:txBody>
          <a:bodyPr wrap="square" lIns="0" tIns="0" rIns="0" bIns="0" rtlCol="0" anchor="t"/>
          <a:lstStyle/>
          <a:p>
            <a:pPr indent="0" marL="0">
              <a:buNone/>
            </a:pPr>
            <a:r>
              <a:rPr lang="en-US" sz="2400" b="1" dirty="0">
                <a:solidFill>
                  <a:schemeClr val="accent3"/>
                </a:solidFill>
              </a:rPr>
              <a:t>Prove</a:t>
            </a:r>
            <a:endParaRPr lang="en-US" sz="2400" dirty="0"/>
          </a:p>
        </p:txBody>
      </p:sp>
      <p:sp>
        <p:nvSpPr>
          <p:cNvPr id="27" name="Text 25"/>
          <p:cNvSpPr txBox="1"/>
          <p:nvPr/>
        </p:nvSpPr>
        <p:spPr>
          <a:xfrm>
            <a:off x="7507224"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Narrowest test first, then typecheck, then the full suite once.</a:t>
            </a:r>
            <a:endParaRPr lang="en-US" sz="1500" dirty="0"/>
          </a:p>
        </p:txBody>
      </p:sp>
      <p:sp>
        <p:nvSpPr>
          <p:cNvPr id="28" name="Text 26"/>
          <p:cNvSpPr txBox="1"/>
          <p:nvPr/>
        </p:nvSpPr>
        <p:spPr>
          <a:xfrm>
            <a:off x="9290304"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9" name="panel"/>
          <p:cNvSpPr/>
          <p:nvPr/>
        </p:nvSpPr>
        <p:spPr>
          <a:xfrm>
            <a:off x="9491472" y="1783080"/>
            <a:ext cx="2029968" cy="3200400"/>
          </a:xfrm>
          <a:prstGeom prst="roundRect">
            <a:avLst>
              <a:gd name="adj" fmla="val 3604"/>
            </a:avLst>
          </a:prstGeom>
          <a:solidFill>
            <a:schemeClr val="bg2"/>
          </a:solidFill>
          <a:ln w="12700">
            <a:solidFill>
              <a:schemeClr val="bg2"/>
            </a:solidFill>
            <a:prstDash val="solid"/>
          </a:ln>
        </p:spPr>
      </p:sp>
      <p:sp>
        <p:nvSpPr>
          <p:cNvPr id="30" name="glyph circle"/>
          <p:cNvSpPr/>
          <p:nvPr/>
        </p:nvSpPr>
        <p:spPr>
          <a:xfrm>
            <a:off x="9720072" y="2011680"/>
            <a:ext cx="548640" cy="548640"/>
          </a:xfrm>
          <a:prstGeom prst="ellipse">
            <a:avLst/>
          </a:prstGeom>
          <a:solidFill>
            <a:schemeClr val="tx1"/>
          </a:solidFill>
          <a:ln w="12700">
            <a:solidFill>
              <a:schemeClr val="tx1"/>
            </a:solidFill>
            <a:prstDash val="solid"/>
          </a:ln>
        </p:spPr>
      </p:sp>
      <p:sp>
        <p:nvSpPr>
          <p:cNvPr id="31" name="Text 29"/>
          <p:cNvSpPr txBox="1"/>
          <p:nvPr/>
        </p:nvSpPr>
        <p:spPr>
          <a:xfrm>
            <a:off x="9720072"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2" name="Text 30"/>
          <p:cNvSpPr txBox="1"/>
          <p:nvPr/>
        </p:nvSpPr>
        <p:spPr>
          <a:xfrm>
            <a:off x="9720072" y="2697480"/>
            <a:ext cx="1645920" cy="457200"/>
          </a:xfrm>
          <a:prstGeom prst="rect">
            <a:avLst/>
          </a:prstGeom>
          <a:noFill/>
          <a:ln/>
        </p:spPr>
        <p:txBody>
          <a:bodyPr wrap="square" lIns="0" tIns="0" rIns="0" bIns="0" rtlCol="0" anchor="t"/>
          <a:lstStyle/>
          <a:p>
            <a:pPr indent="0" marL="0">
              <a:buNone/>
            </a:pPr>
            <a:r>
              <a:rPr lang="en-US" sz="2400" b="1" dirty="0">
                <a:solidFill>
                  <a:schemeClr val="tx1"/>
                </a:solidFill>
              </a:rPr>
              <a:t>Reset</a:t>
            </a:r>
            <a:endParaRPr lang="en-US" sz="2400" dirty="0"/>
          </a:p>
        </p:txBody>
      </p:sp>
      <p:sp>
        <p:nvSpPr>
          <p:cNvPr id="33" name="Text 31"/>
          <p:cNvSpPr txBox="1"/>
          <p:nvPr/>
        </p:nvSpPr>
        <p:spPr>
          <a:xfrm>
            <a:off x="9720072"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New goal → /clear. Same goal, long chat → compact.</a:t>
            </a:r>
            <a:endParaRPr lang="en-US" sz="1500" dirty="0"/>
          </a:p>
        </p:txBody>
      </p:sp>
      <p:sp>
        <p:nvSpPr>
          <p:cNvPr id="34" name="panel"/>
          <p:cNvSpPr/>
          <p:nvPr/>
        </p:nvSpPr>
        <p:spPr>
          <a:xfrm>
            <a:off x="640080" y="5349240"/>
            <a:ext cx="10881360" cy="594360"/>
          </a:xfrm>
          <a:prstGeom prst="roundRect">
            <a:avLst>
              <a:gd name="adj" fmla="val 12308"/>
            </a:avLst>
          </a:prstGeom>
          <a:solidFill>
            <a:schemeClr val="bg2"/>
          </a:solidFill>
          <a:ln w="12700">
            <a:solidFill>
              <a:schemeClr val="bg2"/>
            </a:solidFill>
            <a:prstDash val="solid"/>
          </a:ln>
        </p:spPr>
      </p:sp>
      <p:sp>
        <p:nvSpPr>
          <p:cNvPr id="35" name="Text 33"/>
          <p:cNvSpPr txBox="1"/>
          <p:nvPr/>
        </p:nvSpPr>
        <p:spPr>
          <a:xfrm>
            <a:off x="868680" y="5349240"/>
            <a:ext cx="10424160" cy="594360"/>
          </a:xfrm>
          <a:prstGeom prst="rect">
            <a:avLst/>
          </a:prstGeom>
          <a:noFill/>
          <a:ln/>
        </p:spPr>
        <p:txBody>
          <a:bodyPr wrap="square" lIns="0" tIns="0" rIns="0" bIns="0" rtlCol="0" anchor="ctr"/>
          <a:lstStyle/>
          <a:p>
            <a:pPr indent="0" marL="0">
              <a:buNone/>
            </a:pPr>
            <a:r>
              <a:rPr lang="en-US" sz="1500" b="1" dirty="0">
                <a:solidFill>
                  <a:schemeClr val="tx2"/>
                </a:solidFill>
              </a:rPr>
              <a:t>Optimise for a short search, not a short prompt.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Aim: the six-part prompt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Six lines, not six paragraphs. Example: the free-shipping ticket Demo 1 got wrong.</a:t>
            </a:r>
            <a:endParaRPr lang="en-US" sz="1500" dirty="0"/>
          </a:p>
        </p:txBody>
      </p:sp>
      <p:graphicFrame>
        <p:nvGraphicFramePr>
          <p:cNvPr id="12" name="six-part table"/>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1737360"/>
                <a:gridCol w="4206240"/>
                <a:gridCol w="4937760"/>
              </a:tblGrid>
              <a:tr h="548640">
                <a:tc>
                  <a:txBody>
                    <a:bodyPr/>
                    <a:lstStyle/>
                    <a:p>
                      <a:pPr indent="0" marL="0">
                        <a:buNone/>
                      </a:pPr>
                      <a:r>
                        <a:rPr lang="en-US" sz="1500" b="1" dirty="0">
                          <a:solidFill>
                            <a:schemeClr val="bg1"/>
                          </a:solidFill>
                        </a:rPr>
                        <a:t>Part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Answers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Example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48640">
                <a:tc>
                  <a:txBody>
                    <a:bodyPr/>
                    <a:lstStyle/>
                    <a:p>
                      <a:pPr indent="0" marL="0">
                        <a:buNone/>
                      </a:pPr>
                      <a:r>
                        <a:rPr lang="en-US" sz="1500" b="1" dirty="0">
                          <a:solidFill>
                            <a:schemeClr val="tx1"/>
                          </a:solidFill>
                        </a:rPr>
                        <a:t>Goal</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What observable result exists afterwards?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Free standard shipping from £100, after discount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Acceptance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How do we know it's right, edge cases included?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Exactly £100 → free; express → never free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Context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Which files, symbols, tests, docs?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shipping-price.ts, pricing-policy.ts; not src/shipping/</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Constraints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What must not change?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Method selection; no floats, no new literals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Plan?</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Plan first, or straight to the edit?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Plan in ≤ 8 lines, then wait for me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Verify</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The exact command that proves it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npm test -- tests/pricing &amp;&amp; npm run typecheck</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7" name="Text 4"/>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The acceptance row is the one that matters: both edge cases Demo 1 got wrong are in it.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Longer prompt, shorter session</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The second prompt costs about 150 more tokens and saves the agent from reading the repository.</a:t>
            </a:r>
            <a:endParaRPr lang="en-US" sz="1500" dirty="0"/>
          </a:p>
        </p:txBody>
      </p:sp>
      <p:sp>
        <p:nvSpPr>
          <p:cNvPr id="5" name="Text 3"/>
          <p:cNvSpPr txBox="1"/>
          <p:nvPr/>
        </p:nvSpPr>
        <p:spPr>
          <a:xfrm>
            <a:off x="640080" y="1691640"/>
            <a:ext cx="393192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VIBE</a:t>
            </a:r>
            <a:endParaRPr lang="en-US" sz="1200" dirty="0"/>
          </a:p>
        </p:txBody>
      </p:sp>
      <p:sp>
        <p:nvSpPr>
          <p:cNvPr id="6" name="panel"/>
          <p:cNvSpPr/>
          <p:nvPr/>
        </p:nvSpPr>
        <p:spPr>
          <a:xfrm>
            <a:off x="640080" y="2011680"/>
            <a:ext cx="3931920" cy="1920240"/>
          </a:xfrm>
          <a:prstGeom prst="roundRect">
            <a:avLst>
              <a:gd name="adj" fmla="val 3810"/>
            </a:avLst>
          </a:prstGeom>
          <a:solidFill>
            <a:schemeClr val="tx1"/>
          </a:solidFill>
          <a:ln w="12700">
            <a:solidFill>
              <a:schemeClr val="tx1"/>
            </a:solidFill>
            <a:prstDash val="solid"/>
          </a:ln>
        </p:spPr>
      </p:sp>
      <p:sp>
        <p:nvSpPr>
          <p:cNvPr id="7" name="code"/>
          <p:cNvSpPr txBox="1"/>
          <p:nvPr/>
        </p:nvSpPr>
        <p:spPr>
          <a:xfrm>
            <a:off x="868680" y="2176272"/>
            <a:ext cx="3474720" cy="1591056"/>
          </a:xfrm>
          <a:prstGeom prst="rect">
            <a:avLst/>
          </a:prstGeom>
          <a:noFill/>
          <a:ln/>
        </p:spPr>
        <p:txBody>
          <a:bodyPr wrap="square" lIns="0" tIns="0" rIns="0" bIns="0" rtlCol="0" anchor="t"/>
          <a:lstStyle/>
          <a:p>
            <a:pPr indent="0" marL="0">
              <a:buNone/>
            </a:pPr>
            <a:r>
              <a:rPr lang="en-US" sz="1500" dirty="0">
                <a:solidFill>
                  <a:schemeClr val="bg2"/>
                </a:solidFill>
                <a:latin typeface="Consolas" pitchFamily="34" charset="0"/>
                <a:ea typeface="Consolas" pitchFamily="34" charset="-122"/>
                <a:cs typeface="Consolas" pitchFamily="34" charset="-120"/>
              </a:rPr>
              <a:t>An order with a percentage</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discount is charged too much</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tax. Fix the bug and make</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the tests pass.</a:t>
            </a:r>
            <a:endParaRPr lang="en-US" sz="1500" dirty="0"/>
          </a:p>
        </p:txBody>
      </p:sp>
      <p:sp>
        <p:nvSpPr>
          <p:cNvPr id="8" name="Text 6"/>
          <p:cNvSpPr txBox="1"/>
          <p:nvPr/>
        </p:nvSpPr>
        <p:spPr>
          <a:xfrm>
            <a:off x="640080" y="4114800"/>
            <a:ext cx="3931920" cy="914400"/>
          </a:xfrm>
          <a:prstGeom prst="rect">
            <a:avLst/>
          </a:prstGeom>
          <a:noFill/>
          <a:ln/>
        </p:spPr>
        <p:txBody>
          <a:bodyPr wrap="square" lIns="0" tIns="0" rIns="0" bIns="0" rtlCol="0" anchor="t"/>
          <a:lstStyle/>
          <a:p>
            <a:pPr indent="0" marL="0">
              <a:buNone/>
            </a:pPr>
            <a:r>
              <a:rPr lang="en-US" sz="1500" dirty="0">
                <a:solidFill>
                  <a:schemeClr val="accent3"/>
                </a:solidFill>
              </a:rPr>
              <a:t>Agent must discover: which file, which rule, what not to touch, how to check.</a:t>
            </a:r>
            <a:endParaRPr lang="en-US" sz="1500" dirty="0"/>
          </a:p>
        </p:txBody>
      </p:sp>
      <p:sp>
        <p:nvSpPr>
          <p:cNvPr id="9" name="Text 7"/>
          <p:cNvSpPr txBox="1"/>
          <p:nvPr/>
        </p:nvSpPr>
        <p:spPr>
          <a:xfrm>
            <a:off x="4937760" y="1691640"/>
            <a:ext cx="65836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DISCIPLINED</a:t>
            </a:r>
            <a:endParaRPr lang="en-US" sz="1200" dirty="0"/>
          </a:p>
        </p:txBody>
      </p:sp>
      <p:sp>
        <p:nvSpPr>
          <p:cNvPr id="10" name="panel"/>
          <p:cNvSpPr/>
          <p:nvPr/>
        </p:nvSpPr>
        <p:spPr>
          <a:xfrm>
            <a:off x="4937760" y="2011680"/>
            <a:ext cx="6583680" cy="3017520"/>
          </a:xfrm>
          <a:prstGeom prst="roundRect">
            <a:avLst>
              <a:gd name="adj" fmla="val 2424"/>
            </a:avLst>
          </a:prstGeom>
          <a:solidFill>
            <a:schemeClr val="tx1"/>
          </a:solidFill>
          <a:ln w="12700">
            <a:solidFill>
              <a:schemeClr val="tx1"/>
            </a:solidFill>
            <a:prstDash val="solid"/>
          </a:ln>
        </p:spPr>
      </p:sp>
      <p:sp>
        <p:nvSpPr>
          <p:cNvPr id="11" name="code"/>
          <p:cNvSpPr txBox="1"/>
          <p:nvPr/>
        </p:nvSpPr>
        <p:spPr>
          <a:xfrm>
            <a:off x="5166360" y="2176272"/>
            <a:ext cx="6126480" cy="268833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Fix the discounted-order tax calculation.</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Start with: src/pricing/calculate-order-total.ts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its test, and docs/decisions/002-*.md</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Order: subtotal → discount → shipping → tax.</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touch tax rates or public API types.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read archive/ or fixtures/.</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Verify: npm test -- tests/pricing/calculate-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order-total.test.ts &amp;&amp; npm run typecheck</a:t>
            </a:r>
            <a:endParaRPr lang="en-US" sz="1400" dirty="0"/>
          </a:p>
        </p:txBody>
      </p:sp>
      <p:sp>
        <p:nvSpPr>
          <p:cNvPr id="12" name="panel"/>
          <p:cNvSpPr/>
          <p:nvPr/>
        </p:nvSpPr>
        <p:spPr>
          <a:xfrm>
            <a:off x="640080" y="5806440"/>
            <a:ext cx="10881360" cy="502920"/>
          </a:xfrm>
          <a:prstGeom prst="roundRect">
            <a:avLst>
              <a:gd name="adj" fmla="val 14545"/>
            </a:avLst>
          </a:prstGeom>
          <a:solidFill>
            <a:schemeClr val="bg2"/>
          </a:solidFill>
          <a:ln w="12700">
            <a:solidFill>
              <a:schemeClr val="bg2"/>
            </a:solidFill>
            <a:prstDash val="solid"/>
          </a:ln>
        </p:spPr>
      </p:sp>
      <p:sp>
        <p:nvSpPr>
          <p:cNvPr id="13" name="Text 11"/>
          <p:cNvSpPr txBox="1"/>
          <p:nvPr/>
        </p:nvSpPr>
        <p:spPr>
          <a:xfrm>
            <a:off x="868680" y="5806440"/>
            <a:ext cx="10424160" cy="502920"/>
          </a:xfrm>
          <a:prstGeom prst="rect">
            <a:avLst/>
          </a:prstGeom>
          <a:noFill/>
          <a:ln/>
        </p:spPr>
        <p:txBody>
          <a:bodyPr wrap="square" lIns="0" tIns="0" rIns="0" bIns="0" rtlCol="0" anchor="ctr"/>
          <a:lstStyle/>
          <a:p>
            <a:pPr indent="0" marL="0">
              <a:buNone/>
            </a:pPr>
            <a:r>
              <a:rPr lang="en-US" sz="1500" b="1" dirty="0">
                <a:solidFill>
                  <a:schemeClr val="tx2"/>
                </a:solidFill>
              </a:rPr>
              <a:t>Counter-intuitive rule: don't optimise for a short prompt. Optimise for a short search.</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plan is the cheapest place to be wrong</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 agent plans. The only question is whether it does it where you can see it.</a:t>
            </a:r>
            <a:endParaRPr lang="en-US" sz="1500" dirty="0"/>
          </a:p>
        </p:txBody>
      </p:sp>
      <p:sp>
        <p:nvSpPr>
          <p:cNvPr id="5" name="panel"/>
          <p:cNvSpPr/>
          <p:nvPr/>
        </p:nvSpPr>
        <p:spPr>
          <a:xfrm>
            <a:off x="640080" y="1691640"/>
            <a:ext cx="3502152" cy="3657600"/>
          </a:xfrm>
          <a:prstGeom prst="roundRect">
            <a:avLst>
              <a:gd name="adj" fmla="val 2089"/>
            </a:avLst>
          </a:prstGeom>
          <a:solidFill>
            <a:schemeClr val="bg2"/>
          </a:solidFill>
          <a:ln w="12700">
            <a:solidFill>
              <a:schemeClr val="bg2"/>
            </a:solidFill>
            <a:prstDash val="solid"/>
          </a:ln>
        </p:spPr>
      </p:sp>
      <p:sp>
        <p:nvSpPr>
          <p:cNvPr id="6" name="cost bar"/>
          <p:cNvSpPr/>
          <p:nvPr/>
        </p:nvSpPr>
        <p:spPr>
          <a:xfrm>
            <a:off x="914400" y="2971800"/>
            <a:ext cx="502920" cy="502920"/>
          </a:xfrm>
          <a:prstGeom prst="rect">
            <a:avLst/>
          </a:prstGeom>
          <a:solidFill>
            <a:schemeClr val="accent2"/>
          </a:solidFill>
          <a:ln w="12700">
            <a:solidFill>
              <a:schemeClr val="accent2"/>
            </a:solidFill>
            <a:prstDash val="solid"/>
          </a:ln>
        </p:spPr>
      </p:sp>
      <p:sp>
        <p:nvSpPr>
          <p:cNvPr id="7" name="Text 5"/>
          <p:cNvSpPr txBox="1"/>
          <p:nvPr/>
        </p:nvSpPr>
        <p:spPr>
          <a:xfrm>
            <a:off x="1600200"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8" name="Text 6"/>
          <p:cNvSpPr txBox="1"/>
          <p:nvPr/>
        </p:nvSpPr>
        <p:spPr>
          <a:xfrm>
            <a:off x="1600200" y="2788920"/>
            <a:ext cx="2286000" cy="411480"/>
          </a:xfrm>
          <a:prstGeom prst="rect">
            <a:avLst/>
          </a:prstGeom>
          <a:noFill/>
          <a:ln/>
        </p:spPr>
        <p:txBody>
          <a:bodyPr wrap="square" lIns="0" tIns="0" rIns="0" bIns="0" rtlCol="0" anchor="t"/>
          <a:lstStyle/>
          <a:p>
            <a:pPr indent="0" marL="0">
              <a:buNone/>
            </a:pPr>
            <a:r>
              <a:rPr lang="en-US" sz="2200" b="1" dirty="0">
                <a:solidFill>
                  <a:schemeClr val="accent2"/>
                </a:solidFill>
              </a:rPr>
              <a:t>low</a:t>
            </a:r>
            <a:endParaRPr lang="en-US" sz="2200" dirty="0"/>
          </a:p>
        </p:txBody>
      </p:sp>
      <p:sp>
        <p:nvSpPr>
          <p:cNvPr id="9" name="Text 7"/>
          <p:cNvSpPr txBox="1"/>
          <p:nvPr/>
        </p:nvSpPr>
        <p:spPr>
          <a:xfrm>
            <a:off x="914400"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in the plan</a:t>
            </a:r>
            <a:endParaRPr lang="en-US" sz="1800" dirty="0"/>
          </a:p>
        </p:txBody>
      </p:sp>
      <p:sp>
        <p:nvSpPr>
          <p:cNvPr id="10" name="Text 8"/>
          <p:cNvSpPr txBox="1"/>
          <p:nvPr/>
        </p:nvSpPr>
        <p:spPr>
          <a:xfrm>
            <a:off x="914400"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You read 8 lines and fix one. Nothing to undo; the window is still small.</a:t>
            </a:r>
            <a:endParaRPr lang="en-US" sz="1500" dirty="0"/>
          </a:p>
        </p:txBody>
      </p:sp>
      <p:sp>
        <p:nvSpPr>
          <p:cNvPr id="11" name="panel"/>
          <p:cNvSpPr/>
          <p:nvPr/>
        </p:nvSpPr>
        <p:spPr>
          <a:xfrm>
            <a:off x="4325112" y="1691640"/>
            <a:ext cx="3502152" cy="3657600"/>
          </a:xfrm>
          <a:prstGeom prst="roundRect">
            <a:avLst>
              <a:gd name="adj" fmla="val 2089"/>
            </a:avLst>
          </a:prstGeom>
          <a:solidFill>
            <a:schemeClr val="bg2"/>
          </a:solidFill>
          <a:ln w="12700">
            <a:solidFill>
              <a:schemeClr val="bg2"/>
            </a:solidFill>
            <a:prstDash val="solid"/>
          </a:ln>
        </p:spPr>
      </p:sp>
      <p:sp>
        <p:nvSpPr>
          <p:cNvPr id="12" name="cost bar"/>
          <p:cNvSpPr/>
          <p:nvPr/>
        </p:nvSpPr>
        <p:spPr>
          <a:xfrm>
            <a:off x="4599432" y="2468880"/>
            <a:ext cx="502920" cy="1005840"/>
          </a:xfrm>
          <a:prstGeom prst="rect">
            <a:avLst/>
          </a:prstGeom>
          <a:solidFill>
            <a:schemeClr val="accent1"/>
          </a:solidFill>
          <a:ln w="12700">
            <a:solidFill>
              <a:schemeClr val="accent1"/>
            </a:solidFill>
            <a:prstDash val="solid"/>
          </a:ln>
        </p:spPr>
      </p:sp>
      <p:sp>
        <p:nvSpPr>
          <p:cNvPr id="13" name="Text 11"/>
          <p:cNvSpPr txBox="1"/>
          <p:nvPr/>
        </p:nvSpPr>
        <p:spPr>
          <a:xfrm>
            <a:off x="5285232"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14" name="Text 12"/>
          <p:cNvSpPr txBox="1"/>
          <p:nvPr/>
        </p:nvSpPr>
        <p:spPr>
          <a:xfrm>
            <a:off x="5285232" y="2788920"/>
            <a:ext cx="2286000" cy="411480"/>
          </a:xfrm>
          <a:prstGeom prst="rect">
            <a:avLst/>
          </a:prstGeom>
          <a:noFill/>
          <a:ln/>
        </p:spPr>
        <p:txBody>
          <a:bodyPr wrap="square" lIns="0" tIns="0" rIns="0" bIns="0" rtlCol="0" anchor="t"/>
          <a:lstStyle/>
          <a:p>
            <a:pPr indent="0" marL="0">
              <a:buNone/>
            </a:pPr>
            <a:r>
              <a:rPr lang="en-US" sz="2200" b="1" dirty="0">
                <a:solidFill>
                  <a:schemeClr val="accent1"/>
                </a:solidFill>
              </a:rPr>
              <a:t>higher</a:t>
            </a:r>
            <a:endParaRPr lang="en-US" sz="2200" dirty="0"/>
          </a:p>
        </p:txBody>
      </p:sp>
      <p:sp>
        <p:nvSpPr>
          <p:cNvPr id="15" name="Text 13"/>
          <p:cNvSpPr txBox="1"/>
          <p:nvPr/>
        </p:nvSpPr>
        <p:spPr>
          <a:xfrm>
            <a:off x="4599432"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during the build</a:t>
            </a:r>
            <a:endParaRPr lang="en-US" sz="1800" dirty="0"/>
          </a:p>
        </p:txBody>
      </p:sp>
      <p:sp>
        <p:nvSpPr>
          <p:cNvPr id="16" name="Text 14"/>
          <p:cNvSpPr txBox="1"/>
          <p:nvPr/>
        </p:nvSpPr>
        <p:spPr>
          <a:xfrm>
            <a:off x="4599432"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Corrections, re-reads, reverted edits. Every failed attempt stays in the context.</a:t>
            </a:r>
            <a:endParaRPr lang="en-US" sz="1500" dirty="0"/>
          </a:p>
        </p:txBody>
      </p:sp>
      <p:sp>
        <p:nvSpPr>
          <p:cNvPr id="17" name="panel"/>
          <p:cNvSpPr/>
          <p:nvPr/>
        </p:nvSpPr>
        <p:spPr>
          <a:xfrm>
            <a:off x="8010144" y="1691640"/>
            <a:ext cx="3502152" cy="3657600"/>
          </a:xfrm>
          <a:prstGeom prst="roundRect">
            <a:avLst>
              <a:gd name="adj" fmla="val 2089"/>
            </a:avLst>
          </a:prstGeom>
          <a:solidFill>
            <a:schemeClr val="bg2"/>
          </a:solidFill>
          <a:ln w="12700">
            <a:solidFill>
              <a:schemeClr val="bg2"/>
            </a:solidFill>
            <a:prstDash val="solid"/>
          </a:ln>
        </p:spPr>
      </p:sp>
      <p:sp>
        <p:nvSpPr>
          <p:cNvPr id="18" name="cost bar"/>
          <p:cNvSpPr/>
          <p:nvPr/>
        </p:nvSpPr>
        <p:spPr>
          <a:xfrm>
            <a:off x="8284464" y="1965960"/>
            <a:ext cx="502920" cy="1508760"/>
          </a:xfrm>
          <a:prstGeom prst="rect">
            <a:avLst/>
          </a:prstGeom>
          <a:solidFill>
            <a:schemeClr val="tx2"/>
          </a:solidFill>
          <a:ln w="12700">
            <a:solidFill>
              <a:schemeClr val="tx2"/>
            </a:solidFill>
            <a:prstDash val="solid"/>
          </a:ln>
        </p:spPr>
      </p:sp>
      <p:sp>
        <p:nvSpPr>
          <p:cNvPr id="19" name="Text 17"/>
          <p:cNvSpPr txBox="1"/>
          <p:nvPr/>
        </p:nvSpPr>
        <p:spPr>
          <a:xfrm>
            <a:off x="8970264"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20" name="Text 18"/>
          <p:cNvSpPr txBox="1"/>
          <p:nvPr/>
        </p:nvSpPr>
        <p:spPr>
          <a:xfrm>
            <a:off x="8970264" y="2788920"/>
            <a:ext cx="2286000" cy="411480"/>
          </a:xfrm>
          <a:prstGeom prst="rect">
            <a:avLst/>
          </a:prstGeom>
          <a:noFill/>
          <a:ln/>
        </p:spPr>
        <p:txBody>
          <a:bodyPr wrap="square" lIns="0" tIns="0" rIns="0" bIns="0" rtlCol="0" anchor="t"/>
          <a:lstStyle/>
          <a:p>
            <a:pPr indent="0" marL="0">
              <a:buNone/>
            </a:pPr>
            <a:r>
              <a:rPr lang="en-US" sz="2200" b="1" dirty="0">
                <a:solidFill>
                  <a:schemeClr val="tx2"/>
                </a:solidFill>
              </a:rPr>
              <a:t>highest</a:t>
            </a:r>
            <a:endParaRPr lang="en-US" sz="2200" dirty="0"/>
          </a:p>
        </p:txBody>
      </p:sp>
      <p:sp>
        <p:nvSpPr>
          <p:cNvPr id="21" name="Text 19"/>
          <p:cNvSpPr txBox="1"/>
          <p:nvPr/>
        </p:nvSpPr>
        <p:spPr>
          <a:xfrm>
            <a:off x="8284464"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in review or prod</a:t>
            </a:r>
            <a:endParaRPr lang="en-US" sz="1800" dirty="0"/>
          </a:p>
        </p:txBody>
      </p:sp>
      <p:sp>
        <p:nvSpPr>
          <p:cNvPr id="22" name="Text 20"/>
          <p:cNvSpPr txBox="1"/>
          <p:nvPr/>
        </p:nvSpPr>
        <p:spPr>
          <a:xfrm>
            <a:off x="8284464"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PR churn, a new session to rediscover it all, maybe an incident.</a:t>
            </a:r>
            <a:endParaRPr lang="en-US" sz="1500" dirty="0"/>
          </a:p>
        </p:txBody>
      </p:sp>
      <p:sp>
        <p:nvSpPr>
          <p:cNvPr id="23" name="panel"/>
          <p:cNvSpPr/>
          <p:nvPr/>
        </p:nvSpPr>
        <p:spPr>
          <a:xfrm>
            <a:off x="640080" y="5532120"/>
            <a:ext cx="10881360" cy="685800"/>
          </a:xfrm>
          <a:prstGeom prst="roundRect">
            <a:avLst>
              <a:gd name="adj" fmla="val 10667"/>
            </a:avLst>
          </a:prstGeom>
          <a:solidFill>
            <a:schemeClr val="bg2"/>
          </a:solidFill>
          <a:ln w="12700">
            <a:solidFill>
              <a:schemeClr val="bg2"/>
            </a:solidFill>
            <a:prstDash val="solid"/>
          </a:ln>
        </p:spPr>
      </p:sp>
      <p:sp>
        <p:nvSpPr>
          <p:cNvPr id="24" name="Text 22"/>
          <p:cNvSpPr txBox="1"/>
          <p:nvPr/>
        </p:nvSpPr>
        <p:spPr>
          <a:xfrm>
            <a:off x="868680" y="5532120"/>
            <a:ext cx="10424160" cy="685800"/>
          </a:xfrm>
          <a:prstGeom prst="rect">
            <a:avLst/>
          </a:prstGeom>
          <a:noFill/>
          <a:ln/>
        </p:spPr>
        <p:txBody>
          <a:bodyPr wrap="square" lIns="0" tIns="0" rIns="0" bIns="0" rtlCol="0" anchor="ctr"/>
          <a:lstStyle/>
          <a:p>
            <a:pPr indent="0" marL="0">
              <a:buNone/>
            </a:pPr>
            <a:r>
              <a:rPr lang="en-US" sz="1500" b="1" dirty="0">
                <a:solidFill>
                  <a:schemeClr val="tx2"/>
                </a:solidFill>
              </a:rPr>
              <a:t>In Demo 1 the agent planned silently, inside its own head, where nobody could ask "does exactly £100 count?" before it was written.</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A plan that keeps the agent on target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Ask for these sections, read them, then treat the approved plan as the contract.</a:t>
            </a:r>
            <a:endParaRPr lang="en-US" sz="1500" dirty="0"/>
          </a:p>
        </p:txBody>
      </p:sp>
      <p:sp>
        <p:nvSpPr>
          <p:cNvPr id="5" name="Text 3"/>
          <p:cNvSpPr txBox="1"/>
          <p:nvPr/>
        </p:nvSpPr>
        <p:spPr>
          <a:xfrm>
            <a:off x="640080" y="1691640"/>
            <a:ext cx="60350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ASK THE PLAN FOR</a:t>
            </a:r>
            <a:endParaRPr lang="en-US" sz="1200" dirty="0"/>
          </a:p>
        </p:txBody>
      </p:sp>
      <p:sp>
        <p:nvSpPr>
          <p:cNvPr id="6" name="panel"/>
          <p:cNvSpPr/>
          <p:nvPr/>
        </p:nvSpPr>
        <p:spPr>
          <a:xfrm>
            <a:off x="640080" y="2011680"/>
            <a:ext cx="6035040" cy="2926080"/>
          </a:xfrm>
          <a:prstGeom prst="roundRect">
            <a:avLst>
              <a:gd name="adj" fmla="val 2500"/>
            </a:avLst>
          </a:prstGeom>
          <a:solidFill>
            <a:schemeClr val="tx1"/>
          </a:solidFill>
          <a:ln w="12700">
            <a:solidFill>
              <a:schemeClr val="tx1"/>
            </a:solidFill>
            <a:prstDash val="solid"/>
          </a:ln>
        </p:spPr>
      </p:sp>
      <p:sp>
        <p:nvSpPr>
          <p:cNvPr id="7" name="code"/>
          <p:cNvSpPr txBox="1"/>
          <p:nvPr/>
        </p:nvSpPr>
        <p:spPr>
          <a:xfrm>
            <a:off x="868680" y="2176272"/>
            <a:ext cx="5577840" cy="259689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Goal         one line, in your words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Change       shipping-price.ts,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pricing-policy.ts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touch  src/shipping/, price-breakdown</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Approach     &gt;= threshold, after discount,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standard method only</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Tests        £99.99 / £100 / £150; express;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£120 - 20% = £96 still pays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Verify       npm test -- tests/pricing</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Open Qs      anything it had to guess</a:t>
            </a:r>
            <a:endParaRPr lang="en-US" sz="1400" dirty="0"/>
          </a:p>
        </p:txBody>
      </p:sp>
      <p:sp>
        <p:nvSpPr>
          <p:cNvPr id="8" name="panel"/>
          <p:cNvSpPr/>
          <p:nvPr/>
        </p:nvSpPr>
        <p:spPr>
          <a:xfrm>
            <a:off x="6995160" y="1691640"/>
            <a:ext cx="4526280" cy="3246120"/>
          </a:xfrm>
          <a:prstGeom prst="roundRect">
            <a:avLst>
              <a:gd name="adj" fmla="val 2254"/>
            </a:avLst>
          </a:prstGeom>
          <a:solidFill>
            <a:schemeClr val="bg2"/>
          </a:solidFill>
          <a:ln w="12700">
            <a:solidFill>
              <a:schemeClr val="bg2"/>
            </a:solidFill>
            <a:prstDash val="solid"/>
          </a:ln>
        </p:spPr>
      </p:sp>
      <p:sp>
        <p:nvSpPr>
          <p:cNvPr id="9" name="glyph circle"/>
          <p:cNvSpPr/>
          <p:nvPr/>
        </p:nvSpPr>
        <p:spPr>
          <a:xfrm>
            <a:off x="7269480" y="192024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726948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Text 9"/>
          <p:cNvSpPr txBox="1"/>
          <p:nvPr/>
        </p:nvSpPr>
        <p:spPr>
          <a:xfrm>
            <a:off x="7863840" y="1938528"/>
            <a:ext cx="3474720" cy="411480"/>
          </a:xfrm>
          <a:prstGeom prst="rect">
            <a:avLst/>
          </a:prstGeom>
          <a:noFill/>
          <a:ln/>
        </p:spPr>
        <p:txBody>
          <a:bodyPr wrap="square" lIns="0" tIns="0" rIns="0" bIns="0" rtlCol="0" anchor="t"/>
          <a:lstStyle/>
          <a:p>
            <a:pPr indent="0" marL="0">
              <a:buNone/>
            </a:pPr>
            <a:r>
              <a:rPr lang="en-US" sz="1800" b="1" dirty="0">
                <a:solidFill>
                  <a:schemeClr val="tx2"/>
                </a:solidFill>
              </a:rPr>
              <a:t>Then it's the contract</a:t>
            </a:r>
            <a:endParaRPr lang="en-US" sz="1800" dirty="0"/>
          </a:p>
        </p:txBody>
      </p:sp>
      <p:sp>
        <p:nvSpPr>
          <p:cNvPr id="12" name="Text 10"/>
          <p:cNvSpPr txBox="1"/>
          <p:nvPr/>
        </p:nvSpPr>
        <p:spPr>
          <a:xfrm>
            <a:off x="7269480" y="2514600"/>
            <a:ext cx="40690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Approve only what you've read</a:t>
            </a:r>
            <a:endParaRPr lang="en-US" sz="1500" dirty="0"/>
          </a:p>
          <a:p>
            <a:pPr marL="228600" indent="-228600">
              <a:spcAft>
                <a:spcPts val="800"/>
              </a:spcAft>
              <a:buSzPct val="100000"/>
              <a:buChar char="•"/>
            </a:pPr>
            <a:r>
              <a:rPr lang="en-US" sz="1500" dirty="0">
                <a:solidFill>
                  <a:schemeClr val="tx1"/>
                </a:solidFill>
              </a:rPr>
              <a:t>Build only what's in the plan</a:t>
            </a:r>
            <a:endParaRPr lang="en-US" sz="1500" dirty="0"/>
          </a:p>
          <a:p>
            <a:pPr marL="228600" indent="-228600">
              <a:spcAft>
                <a:spcPts val="800"/>
              </a:spcAft>
              <a:buSzPct val="100000"/>
              <a:buChar char="•"/>
            </a:pPr>
            <a:r>
              <a:rPr lang="en-US" sz="1500" dirty="0">
                <a:solidFill>
                  <a:schemeClr val="tx1"/>
                </a:solidFill>
              </a:rPr>
              <a:t>New evidence? Stop and re-plan; don't patch around it</a:t>
            </a:r>
            <a:endParaRPr lang="en-US" sz="1500" dirty="0"/>
          </a:p>
          <a:p>
            <a:pPr marL="228600" indent="-228600">
              <a:spcAft>
                <a:spcPts val="800"/>
              </a:spcAft>
              <a:buSzPct val="100000"/>
              <a:buChar char="•"/>
            </a:pPr>
            <a:r>
              <a:rPr lang="en-US" sz="1500" dirty="0">
                <a:solidFill>
                  <a:schemeClr val="tx1"/>
                </a:solidFill>
              </a:rPr>
              <a:t>"Don't touch" is what stops the drive-by refactor</a:t>
            </a:r>
            <a:endParaRPr lang="en-US" sz="1500" dirty="0"/>
          </a:p>
          <a:p>
            <a:pPr marL="228600" indent="-228600">
              <a:spcAft>
                <a:spcPts val="800"/>
              </a:spcAft>
              <a:buSzPct val="100000"/>
              <a:buChar char="•"/>
            </a:pPr>
            <a:r>
              <a:rPr lang="en-US" sz="1500" dirty="0">
                <a:solidFill>
                  <a:schemeClr val="tx1"/>
                </a:solidFill>
              </a:rPr>
              <a:t>Skip planning when the fix is one obvious line</a:t>
            </a:r>
            <a:endParaRPr lang="en-US" sz="1500" dirty="0"/>
          </a:p>
        </p:txBody>
      </p:sp>
      <p:sp>
        <p:nvSpPr>
          <p:cNvPr id="13" name="panel"/>
          <p:cNvSpPr/>
          <p:nvPr/>
        </p:nvSpPr>
        <p:spPr>
          <a:xfrm>
            <a:off x="640080" y="5212080"/>
            <a:ext cx="10881360" cy="548640"/>
          </a:xfrm>
          <a:prstGeom prst="roundRect">
            <a:avLst>
              <a:gd name="adj" fmla="val 13333"/>
            </a:avLst>
          </a:prstGeom>
          <a:solidFill>
            <a:schemeClr val="bg2"/>
          </a:solidFill>
          <a:ln w="12700">
            <a:solidFill>
              <a:schemeClr val="bg2"/>
            </a:solidFill>
            <a:prstDash val="solid"/>
          </a:ln>
        </p:spPr>
      </p:sp>
      <p:sp>
        <p:nvSpPr>
          <p:cNvPr id="14" name="Text 12"/>
          <p:cNvSpPr txBox="1"/>
          <p:nvPr/>
        </p:nvSpPr>
        <p:spPr>
          <a:xfrm>
            <a:off x="868680" y="521208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A plan that just restates your prompt cost tokens and bought nothing. A good plan says something you didn't.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Plan, save, clear, build</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Exploring is expensive and noisy. Keep the conclusion, throw away the search.</a:t>
            </a:r>
            <a:endParaRPr lang="en-US" sz="1500" dirty="0"/>
          </a:p>
        </p:txBody>
      </p:sp>
      <p:sp>
        <p:nvSpPr>
          <p:cNvPr id="5" name="panel"/>
          <p:cNvSpPr/>
          <p:nvPr/>
        </p:nvSpPr>
        <p:spPr>
          <a:xfrm>
            <a:off x="640080" y="1691640"/>
            <a:ext cx="2578608" cy="3703320"/>
          </a:xfrm>
          <a:prstGeom prst="roundRect">
            <a:avLst>
              <a:gd name="adj" fmla="val 2837"/>
            </a:avLst>
          </a:prstGeom>
          <a:solidFill>
            <a:schemeClr val="bg2"/>
          </a:solidFill>
          <a:ln w="12700">
            <a:solidFill>
              <a:schemeClr val="bg2"/>
            </a:solidFill>
            <a:prstDash val="solid"/>
          </a:ln>
        </p:spPr>
      </p:sp>
      <p:sp>
        <p:nvSpPr>
          <p:cNvPr id="6" name="glyph circle"/>
          <p:cNvSpPr/>
          <p:nvPr/>
        </p:nvSpPr>
        <p:spPr>
          <a:xfrm>
            <a:off x="868680" y="192024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86868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508760" y="1965960"/>
            <a:ext cx="1554480" cy="411480"/>
          </a:xfrm>
          <a:prstGeom prst="rect">
            <a:avLst/>
          </a:prstGeom>
          <a:noFill/>
          <a:ln/>
        </p:spPr>
        <p:txBody>
          <a:bodyPr wrap="square" lIns="0" tIns="0" rIns="0" bIns="0" rtlCol="0" anchor="t"/>
          <a:lstStyle/>
          <a:p>
            <a:pPr indent="0" marL="0">
              <a:buNone/>
            </a:pPr>
            <a:r>
              <a:rPr lang="en-US" sz="2200" b="1" dirty="0">
                <a:solidFill>
                  <a:schemeClr val="accent1"/>
                </a:solidFill>
              </a:rPr>
              <a:t>Plan</a:t>
            </a:r>
            <a:endParaRPr lang="en-US" sz="2200" dirty="0"/>
          </a:p>
        </p:txBody>
      </p:sp>
      <p:sp>
        <p:nvSpPr>
          <p:cNvPr id="9" name="Text 7"/>
          <p:cNvSpPr txBox="1"/>
          <p:nvPr/>
        </p:nvSpPr>
        <p:spPr>
          <a:xfrm>
            <a:off x="868680"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Plan mode. The agent reads and explores; the window fills with search results.</a:t>
            </a:r>
            <a:endParaRPr lang="en-US" sz="1500" dirty="0"/>
          </a:p>
        </p:txBody>
      </p:sp>
      <p:sp>
        <p:nvSpPr>
          <p:cNvPr id="10" name="Text 8"/>
          <p:cNvSpPr txBox="1"/>
          <p:nvPr/>
        </p:nvSpPr>
        <p:spPr>
          <a:xfrm>
            <a:off x="868680"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11" name="context bar frame"/>
          <p:cNvSpPr/>
          <p:nvPr/>
        </p:nvSpPr>
        <p:spPr>
          <a:xfrm>
            <a:off x="868680" y="4617720"/>
            <a:ext cx="2103120" cy="320040"/>
          </a:xfrm>
          <a:prstGeom prst="rect">
            <a:avLst/>
          </a:prstGeom>
          <a:solidFill>
            <a:schemeClr val="bg1"/>
          </a:solidFill>
          <a:ln w="12700">
            <a:solidFill>
              <a:schemeClr val="accent5"/>
            </a:solidFill>
            <a:prstDash val="solid"/>
          </a:ln>
        </p:spPr>
      </p:sp>
      <p:sp>
        <p:nvSpPr>
          <p:cNvPr id="12" name="context bar fill"/>
          <p:cNvSpPr/>
          <p:nvPr/>
        </p:nvSpPr>
        <p:spPr>
          <a:xfrm>
            <a:off x="868680" y="4617720"/>
            <a:ext cx="1156716" cy="320040"/>
          </a:xfrm>
          <a:prstGeom prst="rect">
            <a:avLst/>
          </a:prstGeom>
          <a:solidFill>
            <a:schemeClr val="accent1"/>
          </a:solidFill>
          <a:ln w="12700">
            <a:solidFill>
              <a:schemeClr val="accent1"/>
            </a:solidFill>
            <a:prstDash val="solid"/>
          </a:ln>
        </p:spPr>
      </p:sp>
      <p:sp>
        <p:nvSpPr>
          <p:cNvPr id="13" name="Text 11"/>
          <p:cNvSpPr txBox="1"/>
          <p:nvPr/>
        </p:nvSpPr>
        <p:spPr>
          <a:xfrm>
            <a:off x="3200400"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4" name="panel"/>
          <p:cNvSpPr/>
          <p:nvPr/>
        </p:nvSpPr>
        <p:spPr>
          <a:xfrm>
            <a:off x="3401568" y="1691640"/>
            <a:ext cx="2578608" cy="3703320"/>
          </a:xfrm>
          <a:prstGeom prst="roundRect">
            <a:avLst>
              <a:gd name="adj" fmla="val 2837"/>
            </a:avLst>
          </a:prstGeom>
          <a:solidFill>
            <a:schemeClr val="bg2"/>
          </a:solidFill>
          <a:ln w="12700">
            <a:solidFill>
              <a:schemeClr val="bg2"/>
            </a:solidFill>
            <a:prstDash val="solid"/>
          </a:ln>
        </p:spPr>
      </p:sp>
      <p:sp>
        <p:nvSpPr>
          <p:cNvPr id="15" name="glyph circle"/>
          <p:cNvSpPr/>
          <p:nvPr/>
        </p:nvSpPr>
        <p:spPr>
          <a:xfrm>
            <a:off x="3630168" y="1920240"/>
            <a:ext cx="502920" cy="502920"/>
          </a:xfrm>
          <a:prstGeom prst="ellipse">
            <a:avLst/>
          </a:prstGeom>
          <a:solidFill>
            <a:schemeClr val="tx2"/>
          </a:solidFill>
          <a:ln w="12700">
            <a:solidFill>
              <a:schemeClr val="tx2"/>
            </a:solidFill>
            <a:prstDash val="solid"/>
          </a:ln>
        </p:spPr>
      </p:sp>
      <p:sp>
        <p:nvSpPr>
          <p:cNvPr id="16" name="Text 14"/>
          <p:cNvSpPr txBox="1"/>
          <p:nvPr/>
        </p:nvSpPr>
        <p:spPr>
          <a:xfrm>
            <a:off x="3630168"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15"/>
          <p:cNvSpPr txBox="1"/>
          <p:nvPr/>
        </p:nvSpPr>
        <p:spPr>
          <a:xfrm>
            <a:off x="4270248" y="1965960"/>
            <a:ext cx="1554480" cy="411480"/>
          </a:xfrm>
          <a:prstGeom prst="rect">
            <a:avLst/>
          </a:prstGeom>
          <a:noFill/>
          <a:ln/>
        </p:spPr>
        <p:txBody>
          <a:bodyPr wrap="square" lIns="0" tIns="0" rIns="0" bIns="0" rtlCol="0" anchor="t"/>
          <a:lstStyle/>
          <a:p>
            <a:pPr indent="0" marL="0">
              <a:buNone/>
            </a:pPr>
            <a:r>
              <a:rPr lang="en-US" sz="2200" b="1" dirty="0">
                <a:solidFill>
                  <a:schemeClr val="tx2"/>
                </a:solidFill>
              </a:rPr>
              <a:t>Save</a:t>
            </a:r>
            <a:endParaRPr lang="en-US" sz="2200" dirty="0"/>
          </a:p>
        </p:txBody>
      </p:sp>
      <p:sp>
        <p:nvSpPr>
          <p:cNvPr id="18" name="Text 16"/>
          <p:cNvSpPr txBox="1"/>
          <p:nvPr/>
        </p:nvSpPr>
        <p:spPr>
          <a:xfrm>
            <a:off x="3630168"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Write the approved plan to plans/&lt;task&gt;.md. It's the compressed knowledge.</a:t>
            </a:r>
            <a:endParaRPr lang="en-US" sz="1500" dirty="0"/>
          </a:p>
        </p:txBody>
      </p:sp>
      <p:sp>
        <p:nvSpPr>
          <p:cNvPr id="19" name="Text 17"/>
          <p:cNvSpPr txBox="1"/>
          <p:nvPr/>
        </p:nvSpPr>
        <p:spPr>
          <a:xfrm>
            <a:off x="3630168"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20" name="context bar frame"/>
          <p:cNvSpPr/>
          <p:nvPr/>
        </p:nvSpPr>
        <p:spPr>
          <a:xfrm>
            <a:off x="3630168" y="4617720"/>
            <a:ext cx="2103120" cy="320040"/>
          </a:xfrm>
          <a:prstGeom prst="rect">
            <a:avLst/>
          </a:prstGeom>
          <a:solidFill>
            <a:schemeClr val="bg1"/>
          </a:solidFill>
          <a:ln w="12700">
            <a:solidFill>
              <a:schemeClr val="accent5"/>
            </a:solidFill>
            <a:prstDash val="solid"/>
          </a:ln>
        </p:spPr>
      </p:sp>
      <p:sp>
        <p:nvSpPr>
          <p:cNvPr id="21" name="context bar fill"/>
          <p:cNvSpPr/>
          <p:nvPr/>
        </p:nvSpPr>
        <p:spPr>
          <a:xfrm>
            <a:off x="3630168" y="4617720"/>
            <a:ext cx="1261872" cy="320040"/>
          </a:xfrm>
          <a:prstGeom prst="rect">
            <a:avLst/>
          </a:prstGeom>
          <a:solidFill>
            <a:schemeClr val="tx2"/>
          </a:solidFill>
          <a:ln w="12700">
            <a:solidFill>
              <a:schemeClr val="tx2"/>
            </a:solidFill>
            <a:prstDash val="solid"/>
          </a:ln>
        </p:spPr>
      </p:sp>
      <p:sp>
        <p:nvSpPr>
          <p:cNvPr id="22" name="Text 20"/>
          <p:cNvSpPr txBox="1"/>
          <p:nvPr/>
        </p:nvSpPr>
        <p:spPr>
          <a:xfrm>
            <a:off x="5961888"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3" name="panel"/>
          <p:cNvSpPr/>
          <p:nvPr/>
        </p:nvSpPr>
        <p:spPr>
          <a:xfrm>
            <a:off x="6163056" y="1691640"/>
            <a:ext cx="2578608" cy="3703320"/>
          </a:xfrm>
          <a:prstGeom prst="roundRect">
            <a:avLst>
              <a:gd name="adj" fmla="val 2837"/>
            </a:avLst>
          </a:prstGeom>
          <a:solidFill>
            <a:schemeClr val="bg2"/>
          </a:solidFill>
          <a:ln w="12700">
            <a:solidFill>
              <a:schemeClr val="bg2"/>
            </a:solidFill>
            <a:prstDash val="solid"/>
          </a:ln>
        </p:spPr>
      </p:sp>
      <p:sp>
        <p:nvSpPr>
          <p:cNvPr id="24" name="glyph circle"/>
          <p:cNvSpPr/>
          <p:nvPr/>
        </p:nvSpPr>
        <p:spPr>
          <a:xfrm>
            <a:off x="6391656" y="1920240"/>
            <a:ext cx="502920" cy="502920"/>
          </a:xfrm>
          <a:prstGeom prst="ellipse">
            <a:avLst/>
          </a:prstGeom>
          <a:solidFill>
            <a:schemeClr val="accent2"/>
          </a:solidFill>
          <a:ln w="12700">
            <a:solidFill>
              <a:schemeClr val="accent2"/>
            </a:solidFill>
            <a:prstDash val="solid"/>
          </a:ln>
        </p:spPr>
      </p:sp>
      <p:sp>
        <p:nvSpPr>
          <p:cNvPr id="25" name="Text 23"/>
          <p:cNvSpPr txBox="1"/>
          <p:nvPr/>
        </p:nvSpPr>
        <p:spPr>
          <a:xfrm>
            <a:off x="6391656"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Text 24"/>
          <p:cNvSpPr txBox="1"/>
          <p:nvPr/>
        </p:nvSpPr>
        <p:spPr>
          <a:xfrm>
            <a:off x="7031736" y="1965960"/>
            <a:ext cx="1554480" cy="411480"/>
          </a:xfrm>
          <a:prstGeom prst="rect">
            <a:avLst/>
          </a:prstGeom>
          <a:noFill/>
          <a:ln/>
        </p:spPr>
        <p:txBody>
          <a:bodyPr wrap="square" lIns="0" tIns="0" rIns="0" bIns="0" rtlCol="0" anchor="t"/>
          <a:lstStyle/>
          <a:p>
            <a:pPr indent="0" marL="0">
              <a:buNone/>
            </a:pPr>
            <a:r>
              <a:rPr lang="en-US" sz="2200" b="1" dirty="0">
                <a:solidFill>
                  <a:schemeClr val="accent2"/>
                </a:solidFill>
              </a:rPr>
              <a:t>Clear</a:t>
            </a:r>
            <a:endParaRPr lang="en-US" sz="2200" dirty="0"/>
          </a:p>
        </p:txBody>
      </p:sp>
      <p:sp>
        <p:nvSpPr>
          <p:cNvPr id="27" name="Text 25"/>
          <p:cNvSpPr txBox="1"/>
          <p:nvPr/>
        </p:nvSpPr>
        <p:spPr>
          <a:xfrm>
            <a:off x="6391656"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/clear. The exploration noise is gone; the plan file and the repo remain.</a:t>
            </a:r>
            <a:endParaRPr lang="en-US" sz="1500" dirty="0"/>
          </a:p>
        </p:txBody>
      </p:sp>
      <p:sp>
        <p:nvSpPr>
          <p:cNvPr id="28" name="Text 26"/>
          <p:cNvSpPr txBox="1"/>
          <p:nvPr/>
        </p:nvSpPr>
        <p:spPr>
          <a:xfrm>
            <a:off x="6391656"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29" name="context bar frame"/>
          <p:cNvSpPr/>
          <p:nvPr/>
        </p:nvSpPr>
        <p:spPr>
          <a:xfrm>
            <a:off x="6391656" y="4617720"/>
            <a:ext cx="2103120" cy="320040"/>
          </a:xfrm>
          <a:prstGeom prst="rect">
            <a:avLst/>
          </a:prstGeom>
          <a:solidFill>
            <a:schemeClr val="bg1"/>
          </a:solidFill>
          <a:ln w="12700">
            <a:solidFill>
              <a:schemeClr val="accent5"/>
            </a:solidFill>
            <a:prstDash val="solid"/>
          </a:ln>
        </p:spPr>
      </p:sp>
      <p:sp>
        <p:nvSpPr>
          <p:cNvPr id="30" name="context bar fill"/>
          <p:cNvSpPr/>
          <p:nvPr/>
        </p:nvSpPr>
        <p:spPr>
          <a:xfrm>
            <a:off x="6391656" y="4617720"/>
            <a:ext cx="168250" cy="320040"/>
          </a:xfrm>
          <a:prstGeom prst="rect">
            <a:avLst/>
          </a:prstGeom>
          <a:solidFill>
            <a:schemeClr val="accent2"/>
          </a:solidFill>
          <a:ln w="12700">
            <a:solidFill>
              <a:schemeClr val="accent2"/>
            </a:solidFill>
            <a:prstDash val="solid"/>
          </a:ln>
        </p:spPr>
      </p:sp>
      <p:sp>
        <p:nvSpPr>
          <p:cNvPr id="31" name="Text 29"/>
          <p:cNvSpPr txBox="1"/>
          <p:nvPr/>
        </p:nvSpPr>
        <p:spPr>
          <a:xfrm>
            <a:off x="8723376"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32" name="panel"/>
          <p:cNvSpPr/>
          <p:nvPr/>
        </p:nvSpPr>
        <p:spPr>
          <a:xfrm>
            <a:off x="8924544" y="1691640"/>
            <a:ext cx="2578608" cy="3703320"/>
          </a:xfrm>
          <a:prstGeom prst="roundRect">
            <a:avLst>
              <a:gd name="adj" fmla="val 2837"/>
            </a:avLst>
          </a:prstGeom>
          <a:solidFill>
            <a:schemeClr val="bg2"/>
          </a:solidFill>
          <a:ln w="12700">
            <a:solidFill>
              <a:schemeClr val="bg2"/>
            </a:solidFill>
            <a:prstDash val="solid"/>
          </a:ln>
        </p:spPr>
      </p:sp>
      <p:sp>
        <p:nvSpPr>
          <p:cNvPr id="33" name="glyph circle"/>
          <p:cNvSpPr/>
          <p:nvPr/>
        </p:nvSpPr>
        <p:spPr>
          <a:xfrm>
            <a:off x="9153144" y="1920240"/>
            <a:ext cx="502920" cy="502920"/>
          </a:xfrm>
          <a:prstGeom prst="ellipse">
            <a:avLst/>
          </a:prstGeom>
          <a:solidFill>
            <a:schemeClr val="accent3"/>
          </a:solidFill>
          <a:ln w="12700">
            <a:solidFill>
              <a:schemeClr val="accent3"/>
            </a:solidFill>
            <a:prstDash val="solid"/>
          </a:ln>
        </p:spPr>
      </p:sp>
      <p:sp>
        <p:nvSpPr>
          <p:cNvPr id="34" name="Text 32"/>
          <p:cNvSpPr txBox="1"/>
          <p:nvPr/>
        </p:nvSpPr>
        <p:spPr>
          <a:xfrm>
            <a:off x="9153144"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33"/>
          <p:cNvSpPr txBox="1"/>
          <p:nvPr/>
        </p:nvSpPr>
        <p:spPr>
          <a:xfrm>
            <a:off x="9793224" y="1965960"/>
            <a:ext cx="1554480" cy="411480"/>
          </a:xfrm>
          <a:prstGeom prst="rect">
            <a:avLst/>
          </a:prstGeom>
          <a:noFill/>
          <a:ln/>
        </p:spPr>
        <p:txBody>
          <a:bodyPr wrap="square" lIns="0" tIns="0" rIns="0" bIns="0" rtlCol="0" anchor="t"/>
          <a:lstStyle/>
          <a:p>
            <a:pPr indent="0" marL="0">
              <a:buNone/>
            </a:pPr>
            <a:r>
              <a:rPr lang="en-US" sz="2200" b="1" dirty="0">
                <a:solidFill>
                  <a:schemeClr val="accent3"/>
                </a:solidFill>
              </a:rPr>
              <a:t>Build</a:t>
            </a:r>
            <a:endParaRPr lang="en-US" sz="2200" dirty="0"/>
          </a:p>
        </p:txBody>
      </p:sp>
      <p:sp>
        <p:nvSpPr>
          <p:cNvPr id="36" name="Text 34"/>
          <p:cNvSpPr txBox="1"/>
          <p:nvPr/>
        </p:nvSpPr>
        <p:spPr>
          <a:xfrm>
            <a:off x="9153144"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"Implement plans/&lt;task&gt;.md." A fresh window holding only what matters.</a:t>
            </a:r>
            <a:endParaRPr lang="en-US" sz="1500" dirty="0"/>
          </a:p>
        </p:txBody>
      </p:sp>
      <p:sp>
        <p:nvSpPr>
          <p:cNvPr id="37" name="Text 35"/>
          <p:cNvSpPr txBox="1"/>
          <p:nvPr/>
        </p:nvSpPr>
        <p:spPr>
          <a:xfrm>
            <a:off x="9153144"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38" name="context bar frame"/>
          <p:cNvSpPr/>
          <p:nvPr/>
        </p:nvSpPr>
        <p:spPr>
          <a:xfrm>
            <a:off x="9153144" y="4617720"/>
            <a:ext cx="2103120" cy="320040"/>
          </a:xfrm>
          <a:prstGeom prst="rect">
            <a:avLst/>
          </a:prstGeom>
          <a:solidFill>
            <a:schemeClr val="bg1"/>
          </a:solidFill>
          <a:ln w="12700">
            <a:solidFill>
              <a:schemeClr val="accent5"/>
            </a:solidFill>
            <a:prstDash val="solid"/>
          </a:ln>
        </p:spPr>
      </p:sp>
      <p:sp>
        <p:nvSpPr>
          <p:cNvPr id="39" name="context bar fill"/>
          <p:cNvSpPr/>
          <p:nvPr/>
        </p:nvSpPr>
        <p:spPr>
          <a:xfrm>
            <a:off x="9153144" y="4617720"/>
            <a:ext cx="420624" cy="320040"/>
          </a:xfrm>
          <a:prstGeom prst="rect">
            <a:avLst/>
          </a:prstGeom>
          <a:solidFill>
            <a:schemeClr val="accent3"/>
          </a:solidFill>
          <a:ln w="12700">
            <a:solidFill>
              <a:schemeClr val="accent3"/>
            </a:solidFill>
            <a:prstDash val="solid"/>
          </a:ln>
        </p:spPr>
      </p:sp>
      <p:sp>
        <p:nvSpPr>
          <p:cNvPr id="40" name="Text 38"/>
          <p:cNvSpPr txBox="1"/>
          <p:nvPr/>
        </p:nvSpPr>
        <p:spPr>
          <a:xfrm>
            <a:off x="640080" y="5440680"/>
            <a:ext cx="3657600" cy="228600"/>
          </a:xfrm>
          <a:prstGeom prst="rect">
            <a:avLst/>
          </a:prstGeom>
          <a:noFill/>
          <a:ln/>
        </p:spPr>
        <p:txBody>
          <a:bodyPr wrap="square" lIns="0" tIns="0" rIns="0" bIns="0" rtlCol="0" anchor="t"/>
          <a:lstStyle/>
          <a:p>
            <a:pPr indent="0" marL="0">
              <a:buNone/>
            </a:pPr>
            <a:r>
              <a:rPr lang="en-US" sz="1000" dirty="0">
                <a:solidFill>
                  <a:schemeClr val="accent6"/>
                </a:solidFill>
              </a:rPr>
              <a:t>Bars are illustrative.</a:t>
            </a:r>
            <a:endParaRPr lang="en-US" sz="1000" dirty="0"/>
          </a:p>
        </p:txBody>
      </p:sp>
      <p:sp>
        <p:nvSpPr>
          <p:cNvPr id="4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42" name="Text 4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The plan file doubles as your handoff: a teammate, a fresh session or tomorrow-you can start from it.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2 · ADAM</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2 · Plan, save, clear, build</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Claude Code CLI · the same tickets as Demo 1, done with a plan</a:t>
            </a:r>
            <a:endParaRPr lang="en-US" sz="1600" dirty="0"/>
          </a:p>
        </p:txBody>
      </p:sp>
      <p:sp>
        <p:nvSpPr>
          <p:cNvPr id="5" name="glyph circle"/>
          <p:cNvSpPr/>
          <p:nvPr/>
        </p:nvSpPr>
        <p:spPr>
          <a:xfrm>
            <a:off x="640080" y="228600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2304288"/>
            <a:ext cx="5486400" cy="685800"/>
          </a:xfrm>
          <a:prstGeom prst="rect">
            <a:avLst/>
          </a:prstGeom>
          <a:noFill/>
          <a:ln/>
        </p:spPr>
        <p:txBody>
          <a:bodyPr wrap="square" lIns="0" tIns="0" rIns="0" bIns="0" rtlCol="0" anchor="t"/>
          <a:lstStyle/>
          <a:p>
            <a:pPr indent="0" marL="0">
              <a:buNone/>
            </a:pPr>
            <a:r>
              <a:rPr lang="en-US" sz="1600" dirty="0">
                <a:solidFill>
                  <a:schemeClr val="bg1"/>
                </a:solidFill>
              </a:rPr>
              <a:t>Tax bug: six-part prompt, no plan (it's one line). Then /context.</a:t>
            </a:r>
            <a:endParaRPr lang="en-US" sz="1600" dirty="0"/>
          </a:p>
        </p:txBody>
      </p:sp>
      <p:sp>
        <p:nvSpPr>
          <p:cNvPr id="8" name="glyph circle"/>
          <p:cNvSpPr/>
          <p:nvPr/>
        </p:nvSpPr>
        <p:spPr>
          <a:xfrm>
            <a:off x="640080" y="3072384"/>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640080" y="307238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280160" y="3090672"/>
            <a:ext cx="5486400" cy="685800"/>
          </a:xfrm>
          <a:prstGeom prst="rect">
            <a:avLst/>
          </a:prstGeom>
          <a:noFill/>
          <a:ln/>
        </p:spPr>
        <p:txBody>
          <a:bodyPr wrap="square" lIns="0" tIns="0" rIns="0" bIns="0" rtlCol="0" anchor="t"/>
          <a:lstStyle/>
          <a:p>
            <a:pPr indent="0" marL="0">
              <a:buNone/>
            </a:pPr>
            <a:r>
              <a:rPr lang="en-US" sz="1600" dirty="0">
                <a:solidFill>
                  <a:schemeClr val="bg1"/>
                </a:solidFill>
              </a:rPr>
              <a:t>/clear. Shift+Tab into plan mode. Six-part prompt for free shipping.</a:t>
            </a:r>
            <a:endParaRPr lang="en-US" sz="1600" dirty="0"/>
          </a:p>
        </p:txBody>
      </p:sp>
      <p:sp>
        <p:nvSpPr>
          <p:cNvPr id="11" name="glyph circle"/>
          <p:cNvSpPr/>
          <p:nvPr/>
        </p:nvSpPr>
        <p:spPr>
          <a:xfrm>
            <a:off x="640080" y="3858768"/>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0080" y="3858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3877056"/>
            <a:ext cx="5486400" cy="685800"/>
          </a:xfrm>
          <a:prstGeom prst="rect">
            <a:avLst/>
          </a:prstGeom>
          <a:noFill/>
          <a:ln/>
        </p:spPr>
        <p:txBody>
          <a:bodyPr wrap="square" lIns="0" tIns="0" rIns="0" bIns="0" rtlCol="0" anchor="t"/>
          <a:lstStyle/>
          <a:p>
            <a:pPr indent="0" marL="0">
              <a:buNone/>
            </a:pPr>
            <a:r>
              <a:rPr lang="en-US" sz="1600" dirty="0">
                <a:solidFill>
                  <a:schemeClr val="bg1"/>
                </a:solidFill>
              </a:rPr>
              <a:t>Review the plan out loud: at least £100? after discount? express excluded?</a:t>
            </a:r>
            <a:endParaRPr lang="en-US" sz="1600" dirty="0"/>
          </a:p>
        </p:txBody>
      </p:sp>
      <p:sp>
        <p:nvSpPr>
          <p:cNvPr id="14" name="glyph circle"/>
          <p:cNvSpPr/>
          <p:nvPr/>
        </p:nvSpPr>
        <p:spPr>
          <a:xfrm>
            <a:off x="640080" y="4645152"/>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40080" y="464515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4"/>
          <p:cNvSpPr txBox="1"/>
          <p:nvPr/>
        </p:nvSpPr>
        <p:spPr>
          <a:xfrm>
            <a:off x="1280160" y="4663440"/>
            <a:ext cx="5486400" cy="685800"/>
          </a:xfrm>
          <a:prstGeom prst="rect">
            <a:avLst/>
          </a:prstGeom>
          <a:noFill/>
          <a:ln/>
        </p:spPr>
        <p:txBody>
          <a:bodyPr wrap="square" lIns="0" tIns="0" rIns="0" bIns="0" rtlCol="0" anchor="t"/>
          <a:lstStyle/>
          <a:p>
            <a:pPr indent="0" marL="0">
              <a:buNone/>
            </a:pPr>
            <a:r>
              <a:rPr lang="en-US" sz="1600" dirty="0">
                <a:solidFill>
                  <a:schemeClr val="bg1"/>
                </a:solidFill>
              </a:rPr>
              <a:t>Save it to plans/free-shipping.md. /context, then /clear.</a:t>
            </a:r>
            <a:endParaRPr lang="en-US" sz="1600" dirty="0"/>
          </a:p>
        </p:txBody>
      </p:sp>
      <p:sp>
        <p:nvSpPr>
          <p:cNvPr id="17" name="glyph circle"/>
          <p:cNvSpPr/>
          <p:nvPr/>
        </p:nvSpPr>
        <p:spPr>
          <a:xfrm>
            <a:off x="640080" y="5431536"/>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640080" y="54315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Text 17"/>
          <p:cNvSpPr txBox="1"/>
          <p:nvPr/>
        </p:nvSpPr>
        <p:spPr>
          <a:xfrm>
            <a:off x="1280160" y="5449824"/>
            <a:ext cx="5486400" cy="685800"/>
          </a:xfrm>
          <a:prstGeom prst="rect">
            <a:avLst/>
          </a:prstGeom>
          <a:noFill/>
          <a:ln/>
        </p:spPr>
        <p:txBody>
          <a:bodyPr wrap="square" lIns="0" tIns="0" rIns="0" bIns="0" rtlCol="0" anchor="t"/>
          <a:lstStyle/>
          <a:p>
            <a:pPr indent="0" marL="0">
              <a:buNone/>
            </a:pPr>
            <a:r>
              <a:rPr lang="en-US" sz="1600" dirty="0">
                <a:solidFill>
                  <a:schemeClr val="bg1"/>
                </a:solidFill>
              </a:rPr>
              <a:t>"Implement plans/free-shipping.md." Narrow test, hidden check, /context.</a:t>
            </a:r>
            <a:endParaRPr lang="en-US" sz="1600" dirty="0"/>
          </a:p>
        </p:txBody>
      </p:sp>
      <p:sp>
        <p:nvSpPr>
          <p:cNvPr id="20"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21" name="Text 19"/>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WATCH FOR</a:t>
            </a:r>
            <a:endParaRPr lang="en-US" sz="1200" dirty="0"/>
          </a:p>
        </p:txBody>
      </p:sp>
      <p:sp>
        <p:nvSpPr>
          <p:cNvPr id="22" name="Text 20"/>
          <p:cNvSpPr txBox="1"/>
          <p:nvPr/>
        </p:nvSpPr>
        <p:spPr>
          <a:xfrm>
            <a:off x="7360920" y="2880360"/>
            <a:ext cx="3931920" cy="310896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chemeClr val="bg1"/>
                </a:solidFill>
              </a:rPr>
              <a:t>Files read ≈ files named</a:t>
            </a:r>
            <a:endParaRPr lang="en-US" sz="1600" dirty="0"/>
          </a:p>
          <a:p>
            <a:pPr marL="228600" indent="-228600">
              <a:spcAft>
                <a:spcPts val="900"/>
              </a:spcAft>
              <a:buSzPct val="100000"/>
              <a:buChar char="•"/>
            </a:pPr>
            <a:r>
              <a:rPr lang="en-US" sz="1600" dirty="0">
                <a:solidFill>
                  <a:schemeClr val="bg1"/>
                </a:solidFill>
              </a:rPr>
              <a:t>Edge cases in the plan, before any edit</a:t>
            </a:r>
            <a:endParaRPr lang="en-US" sz="1600" dirty="0"/>
          </a:p>
          <a:p>
            <a:pPr marL="228600" indent="-228600">
              <a:spcAft>
                <a:spcPts val="900"/>
              </a:spcAft>
              <a:buSzPct val="100000"/>
              <a:buChar char="•"/>
            </a:pPr>
            <a:r>
              <a:rPr lang="en-US" sz="1600" dirty="0">
                <a:solidFill>
                  <a:schemeClr val="bg1"/>
                </a:solidFill>
              </a:rPr>
              <a:t>Context drop after /clear</a:t>
            </a:r>
            <a:endParaRPr lang="en-US" sz="1600" dirty="0"/>
          </a:p>
          <a:p>
            <a:pPr marL="228600" indent="-228600">
              <a:spcAft>
                <a:spcPts val="900"/>
              </a:spcAft>
              <a:buSzPct val="100000"/>
              <a:buChar char="•"/>
            </a:pPr>
            <a:r>
              <a:rPr lang="en-US" sz="1600" dirty="0">
                <a:solidFill>
                  <a:schemeClr val="bg1"/>
                </a:solidFill>
              </a:rPr>
              <a:t>Build reads the plan + named files</a:t>
            </a:r>
            <a:endParaRPr lang="en-US" sz="1600" dirty="0"/>
          </a:p>
          <a:p>
            <a:pPr marL="228600" indent="-228600">
              <a:spcAft>
                <a:spcPts val="900"/>
              </a:spcAft>
              <a:buSzPct val="100000"/>
              <a:buChar char="•"/>
            </a:pPr>
            <a:r>
              <a:rPr lang="en-US" sz="1600" dirty="0">
                <a:solidFill>
                  <a:schemeClr val="bg1"/>
                </a:solidFill>
              </a:rPr>
              <a:t>One focused test run</a:t>
            </a:r>
            <a:endParaRPr lang="en-US" sz="1600" dirty="0"/>
          </a:p>
          <a:p>
            <a:pPr marL="228600" indent="-228600">
              <a:spcAft>
                <a:spcPts val="900"/>
              </a:spcAft>
              <a:buSzPct val="100000"/>
              <a:buChar char="•"/>
            </a:pPr>
            <a:r>
              <a:rPr lang="en-US" sz="1600" dirty="0">
                <a:solidFill>
                  <a:schemeClr val="bg1"/>
                </a:solidFill>
              </a:rPr>
              <a:t>Task 3: PASS here, FAIL in Demo 1</a:t>
            </a:r>
            <a:endParaRPr lang="en-US" sz="16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Continue, compact or clear?</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Decide before you type the next prompt. Each option keeps a different amount of the past.</a:t>
            </a:r>
            <a:endParaRPr lang="en-US" sz="1500" dirty="0"/>
          </a:p>
        </p:txBody>
      </p:sp>
      <p:sp>
        <p:nvSpPr>
          <p:cNvPr id="5" name="panel"/>
          <p:cNvSpPr/>
          <p:nvPr/>
        </p:nvSpPr>
        <p:spPr>
          <a:xfrm>
            <a:off x="640080" y="1691640"/>
            <a:ext cx="3502152" cy="2880360"/>
          </a:xfrm>
          <a:prstGeom prst="roundRect">
            <a:avLst>
              <a:gd name="adj" fmla="val 2540"/>
            </a:avLst>
          </a:prstGeom>
          <a:solidFill>
            <a:schemeClr val="bg2"/>
          </a:solidFill>
          <a:ln w="12700">
            <a:solidFill>
              <a:schemeClr val="bg2"/>
            </a:solidFill>
            <a:prstDash val="solid"/>
          </a:ln>
        </p:spPr>
      </p:sp>
      <p:sp>
        <p:nvSpPr>
          <p:cNvPr id="6" name="glyph circle"/>
          <p:cNvSpPr/>
          <p:nvPr/>
        </p:nvSpPr>
        <p:spPr>
          <a:xfrm>
            <a:off x="914400" y="192024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91440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8" name="Text 6"/>
          <p:cNvSpPr txBox="1"/>
          <p:nvPr/>
        </p:nvSpPr>
        <p:spPr>
          <a:xfrm>
            <a:off x="914400" y="2606040"/>
            <a:ext cx="3017520" cy="457200"/>
          </a:xfrm>
          <a:prstGeom prst="rect">
            <a:avLst/>
          </a:prstGeom>
          <a:noFill/>
          <a:ln/>
        </p:spPr>
        <p:txBody>
          <a:bodyPr wrap="square" lIns="0" tIns="0" rIns="0" bIns="0" rtlCol="0" anchor="t"/>
          <a:lstStyle/>
          <a:p>
            <a:pPr indent="0" marL="0">
              <a:buNone/>
            </a:pPr>
            <a:r>
              <a:rPr lang="en-US" sz="2200" b="1" dirty="0">
                <a:solidFill>
                  <a:schemeClr val="accent2"/>
                </a:solidFill>
              </a:rPr>
              <a:t>Continue</a:t>
            </a:r>
            <a:endParaRPr lang="en-US" sz="2200" dirty="0"/>
          </a:p>
        </p:txBody>
      </p:sp>
      <p:sp>
        <p:nvSpPr>
          <p:cNvPr id="9" name="Text 7"/>
          <p:cNvSpPr txBox="1"/>
          <p:nvPr/>
        </p:nvSpPr>
        <p:spPr>
          <a:xfrm>
            <a:off x="914400"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Same goal, context still small.</a:t>
            </a:r>
            <a:endParaRPr lang="en-US" sz="1600" dirty="0"/>
          </a:p>
        </p:txBody>
      </p:sp>
      <p:sp>
        <p:nvSpPr>
          <p:cNvPr id="10" name="Text 8"/>
          <p:cNvSpPr txBox="1"/>
          <p:nvPr/>
        </p:nvSpPr>
        <p:spPr>
          <a:xfrm>
            <a:off x="914400"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everything</a:t>
            </a:r>
            <a:endParaRPr lang="en-US" sz="1200" dirty="0"/>
          </a:p>
        </p:txBody>
      </p:sp>
      <p:sp>
        <p:nvSpPr>
          <p:cNvPr id="11" name="Text 9"/>
          <p:cNvSpPr txBox="1"/>
          <p:nvPr/>
        </p:nvSpPr>
        <p:spPr>
          <a:xfrm>
            <a:off x="914400"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Just keep going.</a:t>
            </a:r>
            <a:endParaRPr lang="en-US" sz="1400" dirty="0"/>
          </a:p>
        </p:txBody>
      </p:sp>
      <p:sp>
        <p:nvSpPr>
          <p:cNvPr id="12" name="panel"/>
          <p:cNvSpPr/>
          <p:nvPr/>
        </p:nvSpPr>
        <p:spPr>
          <a:xfrm>
            <a:off x="4325112" y="1691640"/>
            <a:ext cx="3502152" cy="2880360"/>
          </a:xfrm>
          <a:prstGeom prst="roundRect">
            <a:avLst>
              <a:gd name="adj" fmla="val 2540"/>
            </a:avLst>
          </a:prstGeom>
          <a:solidFill>
            <a:schemeClr val="bg2"/>
          </a:solidFill>
          <a:ln w="12700">
            <a:solidFill>
              <a:schemeClr val="bg2"/>
            </a:solidFill>
            <a:prstDash val="solid"/>
          </a:ln>
        </p:spPr>
      </p:sp>
      <p:sp>
        <p:nvSpPr>
          <p:cNvPr id="13" name="glyph circle"/>
          <p:cNvSpPr/>
          <p:nvPr/>
        </p:nvSpPr>
        <p:spPr>
          <a:xfrm>
            <a:off x="4599432" y="192024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4599432"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5" name="Text 13"/>
          <p:cNvSpPr txBox="1"/>
          <p:nvPr/>
        </p:nvSpPr>
        <p:spPr>
          <a:xfrm>
            <a:off x="4599432" y="2606040"/>
            <a:ext cx="3017520" cy="457200"/>
          </a:xfrm>
          <a:prstGeom prst="rect">
            <a:avLst/>
          </a:prstGeom>
          <a:noFill/>
          <a:ln/>
        </p:spPr>
        <p:txBody>
          <a:bodyPr wrap="square" lIns="0" tIns="0" rIns="0" bIns="0" rtlCol="0" anchor="t"/>
          <a:lstStyle/>
          <a:p>
            <a:pPr indent="0" marL="0">
              <a:buNone/>
            </a:pPr>
            <a:r>
              <a:rPr lang="en-US" sz="2200" b="1" dirty="0">
                <a:solidFill>
                  <a:schemeClr val="accent1"/>
                </a:solidFill>
              </a:rPr>
              <a:t>Compact / summarize</a:t>
            </a:r>
            <a:endParaRPr lang="en-US" sz="2200" dirty="0"/>
          </a:p>
        </p:txBody>
      </p:sp>
      <p:sp>
        <p:nvSpPr>
          <p:cNvPr id="16" name="Text 14"/>
          <p:cNvSpPr txBox="1"/>
          <p:nvPr/>
        </p:nvSpPr>
        <p:spPr>
          <a:xfrm>
            <a:off x="4599432"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Same goal, chat getting long.</a:t>
            </a:r>
            <a:endParaRPr lang="en-US" sz="1600" dirty="0"/>
          </a:p>
        </p:txBody>
      </p:sp>
      <p:sp>
        <p:nvSpPr>
          <p:cNvPr id="17" name="Text 15"/>
          <p:cNvSpPr txBox="1"/>
          <p:nvPr/>
        </p:nvSpPr>
        <p:spPr>
          <a:xfrm>
            <a:off x="4599432"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a summary you steer</a:t>
            </a:r>
            <a:endParaRPr lang="en-US" sz="1200" dirty="0"/>
          </a:p>
        </p:txBody>
      </p:sp>
      <p:sp>
        <p:nvSpPr>
          <p:cNvPr id="18" name="Text 16"/>
          <p:cNvSpPr txBox="1"/>
          <p:nvPr/>
        </p:nvSpPr>
        <p:spPr>
          <a:xfrm>
            <a:off x="4599432"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/compact &lt;what to keep&gt; · /summarize</a:t>
            </a:r>
            <a:endParaRPr lang="en-US" sz="1400" dirty="0"/>
          </a:p>
        </p:txBody>
      </p:sp>
      <p:sp>
        <p:nvSpPr>
          <p:cNvPr id="19" name="panel"/>
          <p:cNvSpPr/>
          <p:nvPr/>
        </p:nvSpPr>
        <p:spPr>
          <a:xfrm>
            <a:off x="8010144" y="1691640"/>
            <a:ext cx="3502152" cy="2880360"/>
          </a:xfrm>
          <a:prstGeom prst="roundRect">
            <a:avLst>
              <a:gd name="adj" fmla="val 2540"/>
            </a:avLst>
          </a:prstGeom>
          <a:solidFill>
            <a:schemeClr val="bg2"/>
          </a:solidFill>
          <a:ln w="12700">
            <a:solidFill>
              <a:schemeClr val="bg2"/>
            </a:solidFill>
            <a:prstDash val="solid"/>
          </a:ln>
        </p:spPr>
      </p:sp>
      <p:sp>
        <p:nvSpPr>
          <p:cNvPr id="20" name="glyph circle"/>
          <p:cNvSpPr/>
          <p:nvPr/>
        </p:nvSpPr>
        <p:spPr>
          <a:xfrm>
            <a:off x="8284464" y="1920240"/>
            <a:ext cx="548640" cy="548640"/>
          </a:xfrm>
          <a:prstGeom prst="ellipse">
            <a:avLst/>
          </a:prstGeom>
          <a:solidFill>
            <a:schemeClr val="tx2"/>
          </a:solidFill>
          <a:ln w="12700">
            <a:solidFill>
              <a:schemeClr val="tx2"/>
            </a:solidFill>
            <a:prstDash val="solid"/>
          </a:ln>
        </p:spPr>
      </p:sp>
      <p:sp>
        <p:nvSpPr>
          <p:cNvPr id="21" name="Text 19"/>
          <p:cNvSpPr txBox="1"/>
          <p:nvPr/>
        </p:nvSpPr>
        <p:spPr>
          <a:xfrm>
            <a:off x="8284464"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2" name="Text 20"/>
          <p:cNvSpPr txBox="1"/>
          <p:nvPr/>
        </p:nvSpPr>
        <p:spPr>
          <a:xfrm>
            <a:off x="8284464" y="26060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Clear</a:t>
            </a:r>
            <a:endParaRPr lang="en-US" sz="2200" dirty="0"/>
          </a:p>
        </p:txBody>
      </p:sp>
      <p:sp>
        <p:nvSpPr>
          <p:cNvPr id="23" name="Text 21"/>
          <p:cNvSpPr txBox="1"/>
          <p:nvPr/>
        </p:nvSpPr>
        <p:spPr>
          <a:xfrm>
            <a:off x="8284464"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New goal, or the chat went wrong.</a:t>
            </a:r>
            <a:endParaRPr lang="en-US" sz="1600" dirty="0"/>
          </a:p>
        </p:txBody>
      </p:sp>
      <p:sp>
        <p:nvSpPr>
          <p:cNvPr id="24" name="Text 22"/>
          <p:cNvSpPr txBox="1"/>
          <p:nvPr/>
        </p:nvSpPr>
        <p:spPr>
          <a:xfrm>
            <a:off x="8284464"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the repo + your plan file</a:t>
            </a:r>
            <a:endParaRPr lang="en-US" sz="1200" dirty="0"/>
          </a:p>
        </p:txBody>
      </p:sp>
      <p:sp>
        <p:nvSpPr>
          <p:cNvPr id="25" name="Text 23"/>
          <p:cNvSpPr txBox="1"/>
          <p:nvPr/>
        </p:nvSpPr>
        <p:spPr>
          <a:xfrm>
            <a:off x="8284464"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/clear in both CLIs</a:t>
            </a:r>
            <a:endParaRPr lang="en-US" sz="1400" dirty="0"/>
          </a:p>
        </p:txBody>
      </p:sp>
      <p:sp>
        <p:nvSpPr>
          <p:cNvPr id="26" name="panel"/>
          <p:cNvSpPr/>
          <p:nvPr/>
        </p:nvSpPr>
        <p:spPr>
          <a:xfrm>
            <a:off x="640080" y="4800600"/>
            <a:ext cx="10881360" cy="1325880"/>
          </a:xfrm>
          <a:prstGeom prst="roundRect">
            <a:avLst>
              <a:gd name="adj" fmla="val 5517"/>
            </a:avLst>
          </a:prstGeom>
          <a:solidFill>
            <a:schemeClr val="bg2"/>
          </a:solidFill>
          <a:ln w="12700">
            <a:solidFill>
              <a:schemeClr val="bg2"/>
            </a:solidFill>
            <a:prstDash val="solid"/>
          </a:ln>
        </p:spPr>
      </p:sp>
      <p:sp>
        <p:nvSpPr>
          <p:cNvPr id="27" name="glyph circle"/>
          <p:cNvSpPr/>
          <p:nvPr/>
        </p:nvSpPr>
        <p:spPr>
          <a:xfrm>
            <a:off x="868680" y="5029200"/>
            <a:ext cx="457200" cy="457200"/>
          </a:xfrm>
          <a:prstGeom prst="ellipse">
            <a:avLst/>
          </a:prstGeom>
          <a:solidFill>
            <a:schemeClr val="accent2"/>
          </a:solidFill>
          <a:ln w="12700">
            <a:solidFill>
              <a:schemeClr val="accent2"/>
            </a:solidFill>
            <a:prstDash val="solid"/>
          </a:ln>
        </p:spPr>
      </p:sp>
      <p:sp>
        <p:nvSpPr>
          <p:cNvPr id="28" name="Text 26"/>
          <p:cNvSpPr txBox="1"/>
          <p:nvPr/>
        </p:nvSpPr>
        <p:spPr>
          <a:xfrm>
            <a:off x="868680" y="5029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9" name="Text 27"/>
          <p:cNvSpPr txBox="1"/>
          <p:nvPr/>
        </p:nvSpPr>
        <p:spPr>
          <a:xfrm>
            <a:off x="1508760" y="4983480"/>
            <a:ext cx="9784080" cy="365760"/>
          </a:xfrm>
          <a:prstGeom prst="rect">
            <a:avLst/>
          </a:prstGeom>
          <a:noFill/>
          <a:ln/>
        </p:spPr>
        <p:txBody>
          <a:bodyPr wrap="square" lIns="0" tIns="0" rIns="0" bIns="0" rtlCol="0" anchor="t"/>
          <a:lstStyle/>
          <a:p>
            <a:pPr indent="0" marL="0">
              <a:buNone/>
            </a:pPr>
            <a:r>
              <a:rPr lang="en-US" sz="1800" b="1" dirty="0">
                <a:solidFill>
                  <a:schemeClr val="tx2"/>
                </a:solidFill>
              </a:rPr>
              <a:t>Clearing is not losing work</a:t>
            </a:r>
            <a:endParaRPr lang="en-US" sz="1800" dirty="0"/>
          </a:p>
        </p:txBody>
      </p:sp>
      <p:sp>
        <p:nvSpPr>
          <p:cNvPr id="30" name="Text 28"/>
          <p:cNvSpPr txBox="1"/>
          <p:nvPr/>
        </p:nvSpPr>
        <p:spPr>
          <a:xfrm>
            <a:off x="1508760" y="5394960"/>
            <a:ext cx="9784080" cy="548640"/>
          </a:xfrm>
          <a:prstGeom prst="rect">
            <a:avLst/>
          </a:prstGeom>
          <a:noFill/>
          <a:ln/>
        </p:spPr>
        <p:txBody>
          <a:bodyPr wrap="square" lIns="0" tIns="0" rIns="0" bIns="0" rtlCol="0" anchor="t"/>
          <a:lstStyle/>
          <a:p>
            <a:pPr indent="0" marL="0">
              <a:buNone/>
            </a:pPr>
            <a:r>
              <a:rPr lang="en-US" sz="1500" dirty="0">
                <a:solidFill>
                  <a:schemeClr val="accent3"/>
                </a:solidFill>
              </a:rPr>
              <a:t>Code, tests, docs, git and your plan file are the durable memory. The transcript is scaffolding.</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When to reset, and how to compact well</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Context rot is gradual. These are the signs, and the habits that keep a long session sharp.</a:t>
            </a:r>
            <a:endParaRPr lang="en-US" sz="1500" dirty="0"/>
          </a:p>
        </p:txBody>
      </p:sp>
      <p:sp>
        <p:nvSpPr>
          <p:cNvPr id="5" name="panel"/>
          <p:cNvSpPr/>
          <p:nvPr/>
        </p:nvSpPr>
        <p:spPr>
          <a:xfrm>
            <a:off x="640080" y="1691640"/>
            <a:ext cx="5349240" cy="4434840"/>
          </a:xfrm>
          <a:prstGeom prst="roundRect">
            <a:avLst>
              <a:gd name="adj" fmla="val 1649"/>
            </a:avLst>
          </a:prstGeom>
          <a:solidFill>
            <a:schemeClr val="bg2"/>
          </a:solidFill>
          <a:ln w="12700">
            <a:solidFill>
              <a:schemeClr val="bg2"/>
            </a:solidFill>
            <a:prstDash val="solid"/>
          </a:ln>
        </p:spPr>
      </p:sp>
      <p:sp>
        <p:nvSpPr>
          <p:cNvPr id="6" name="glyph circle"/>
          <p:cNvSpPr/>
          <p:nvPr/>
        </p:nvSpPr>
        <p:spPr>
          <a:xfrm>
            <a:off x="914400" y="1920240"/>
            <a:ext cx="457200" cy="457200"/>
          </a:xfrm>
          <a:prstGeom prst="ellipse">
            <a:avLst/>
          </a:prstGeom>
          <a:solidFill>
            <a:schemeClr val="tx2"/>
          </a:solidFill>
          <a:ln w="12700">
            <a:solidFill>
              <a:schemeClr val="tx2"/>
            </a:solidFill>
            <a:prstDash val="solid"/>
          </a:ln>
        </p:spPr>
      </p:sp>
      <p:sp>
        <p:nvSpPr>
          <p:cNvPr id="7" name="Text 5"/>
          <p:cNvSpPr txBox="1"/>
          <p:nvPr/>
        </p:nvSpPr>
        <p:spPr>
          <a:xfrm>
            <a:off x="91440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8" name="Text 6"/>
          <p:cNvSpPr txBox="1"/>
          <p:nvPr/>
        </p:nvSpPr>
        <p:spPr>
          <a:xfrm>
            <a:off x="1554480" y="1947672"/>
            <a:ext cx="4206240" cy="411480"/>
          </a:xfrm>
          <a:prstGeom prst="rect">
            <a:avLst/>
          </a:prstGeom>
          <a:noFill/>
          <a:ln/>
        </p:spPr>
        <p:txBody>
          <a:bodyPr wrap="square" lIns="0" tIns="0" rIns="0" bIns="0" rtlCol="0" anchor="t"/>
          <a:lstStyle/>
          <a:p>
            <a:pPr indent="0" marL="0">
              <a:buNone/>
            </a:pPr>
            <a:r>
              <a:rPr lang="en-US" sz="1900" b="1" dirty="0">
                <a:solidFill>
                  <a:schemeClr val="tx2"/>
                </a:solidFill>
              </a:rPr>
              <a:t>Time to reset when…</a:t>
            </a:r>
            <a:endParaRPr lang="en-US" sz="1900" dirty="0"/>
          </a:p>
        </p:txBody>
      </p:sp>
      <p:sp>
        <p:nvSpPr>
          <p:cNvPr id="9" name="Text 7"/>
          <p:cNvSpPr txBox="1"/>
          <p:nvPr/>
        </p:nvSpPr>
        <p:spPr>
          <a:xfrm>
            <a:off x="960120" y="2606040"/>
            <a:ext cx="4800600" cy="33832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The goal changed, even slightly</a:t>
            </a:r>
            <a:endParaRPr lang="en-US" sz="1500" dirty="0"/>
          </a:p>
          <a:p>
            <a:pPr marL="228600" indent="-228600">
              <a:spcAft>
                <a:spcPts val="1000"/>
              </a:spcAft>
              <a:buSzPct val="100000"/>
              <a:buChar char="•"/>
            </a:pPr>
            <a:r>
              <a:rPr lang="en-US" sz="1500" dirty="0">
                <a:solidFill>
                  <a:schemeClr val="tx1"/>
                </a:solidFill>
              </a:rPr>
              <a:t>It forgets a constraint you gave earlier</a:t>
            </a:r>
            <a:endParaRPr lang="en-US" sz="1500" dirty="0"/>
          </a:p>
          <a:p>
            <a:pPr marL="228600" indent="-228600">
              <a:spcAft>
                <a:spcPts val="1000"/>
              </a:spcAft>
              <a:buSzPct val="100000"/>
              <a:buChar char="•"/>
            </a:pPr>
            <a:r>
              <a:rPr lang="en-US" sz="1500" dirty="0">
                <a:solidFill>
                  <a:schemeClr val="tx1"/>
                </a:solidFill>
              </a:rPr>
              <a:t>It retries a fix that already failed</a:t>
            </a:r>
            <a:endParaRPr lang="en-US" sz="1500" dirty="0"/>
          </a:p>
          <a:p>
            <a:pPr marL="228600" indent="-228600">
              <a:spcAft>
                <a:spcPts val="1000"/>
              </a:spcAft>
              <a:buSzPct val="100000"/>
              <a:buChar char="•"/>
            </a:pPr>
            <a:r>
              <a:rPr lang="en-US" sz="1500" dirty="0">
                <a:solidFill>
                  <a:schemeClr val="tx1"/>
                </a:solidFill>
              </a:rPr>
              <a:t>Old logs and searches no longer matter</a:t>
            </a:r>
            <a:endParaRPr lang="en-US" sz="1500" dirty="0"/>
          </a:p>
          <a:p>
            <a:pPr marL="228600" indent="-228600">
              <a:spcAft>
                <a:spcPts val="1000"/>
              </a:spcAft>
              <a:buSzPct val="100000"/>
              <a:buChar char="•"/>
            </a:pPr>
            <a:r>
              <a:rPr lang="en-US" sz="1500" dirty="0">
                <a:solidFill>
                  <a:schemeClr val="tx1"/>
                </a:solidFill>
              </a:rPr>
              <a:t>Context passes ~50% and you're mid-task</a:t>
            </a:r>
            <a:endParaRPr lang="en-US" sz="1500" dirty="0"/>
          </a:p>
        </p:txBody>
      </p:sp>
      <p:sp>
        <p:nvSpPr>
          <p:cNvPr id="10" name="panel"/>
          <p:cNvSpPr/>
          <p:nvPr/>
        </p:nvSpPr>
        <p:spPr>
          <a:xfrm>
            <a:off x="6172200" y="1691640"/>
            <a:ext cx="5349240" cy="4434840"/>
          </a:xfrm>
          <a:prstGeom prst="roundRect">
            <a:avLst>
              <a:gd name="adj" fmla="val 1649"/>
            </a:avLst>
          </a:prstGeom>
          <a:solidFill>
            <a:schemeClr val="bg2"/>
          </a:solidFill>
          <a:ln w="12700">
            <a:solidFill>
              <a:schemeClr val="bg2"/>
            </a:solidFill>
            <a:prstDash val="solid"/>
          </a:ln>
        </p:spPr>
      </p:sp>
      <p:sp>
        <p:nvSpPr>
          <p:cNvPr id="11" name="glyph circle"/>
          <p:cNvSpPr/>
          <p:nvPr/>
        </p:nvSpPr>
        <p:spPr>
          <a:xfrm>
            <a:off x="6446520" y="192024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4652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3" name="Text 11"/>
          <p:cNvSpPr txBox="1"/>
          <p:nvPr/>
        </p:nvSpPr>
        <p:spPr>
          <a:xfrm>
            <a:off x="7086600" y="1947672"/>
            <a:ext cx="4206240" cy="411480"/>
          </a:xfrm>
          <a:prstGeom prst="rect">
            <a:avLst/>
          </a:prstGeom>
          <a:noFill/>
          <a:ln/>
        </p:spPr>
        <p:txBody>
          <a:bodyPr wrap="square" lIns="0" tIns="0" rIns="0" bIns="0" rtlCol="0" anchor="t"/>
          <a:lstStyle/>
          <a:p>
            <a:pPr indent="0" marL="0">
              <a:buNone/>
            </a:pPr>
            <a:r>
              <a:rPr lang="en-US" sz="1900" b="1" dirty="0">
                <a:solidFill>
                  <a:schemeClr val="accent2"/>
                </a:solidFill>
              </a:rPr>
              <a:t>Compact well</a:t>
            </a:r>
            <a:endParaRPr lang="en-US" sz="1900" dirty="0"/>
          </a:p>
        </p:txBody>
      </p:sp>
      <p:sp>
        <p:nvSpPr>
          <p:cNvPr id="14" name="Text 12"/>
          <p:cNvSpPr txBox="1"/>
          <p:nvPr/>
        </p:nvSpPr>
        <p:spPr>
          <a:xfrm>
            <a:off x="6492240" y="2606040"/>
            <a:ext cx="4800600" cy="33832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At a boundary (after the plan, after a sub-task), not mid-edit</a:t>
            </a:r>
            <a:endParaRPr lang="en-US" sz="1500" dirty="0"/>
          </a:p>
          <a:p>
            <a:pPr marL="228600" indent="-228600">
              <a:spcAft>
                <a:spcPts val="1000"/>
              </a:spcAft>
              <a:buSzPct val="100000"/>
              <a:buChar char="•"/>
            </a:pPr>
            <a:r>
              <a:rPr lang="en-US" sz="1500" dirty="0">
                <a:solidFill>
                  <a:schemeClr val="tx1"/>
                </a:solidFill>
              </a:rPr>
              <a:t>Say what to keep: "/compact keep the plan, decisions, failing tests"</a:t>
            </a:r>
            <a:endParaRPr lang="en-US" sz="1500" dirty="0"/>
          </a:p>
          <a:p>
            <a:pPr marL="228600" indent="-228600">
              <a:spcAft>
                <a:spcPts val="1000"/>
              </a:spcAft>
              <a:buSzPct val="100000"/>
              <a:buChar char="•"/>
            </a:pPr>
            <a:r>
              <a:rPr lang="en-US" sz="1500" dirty="0">
                <a:solidFill>
                  <a:schemeClr val="tx1"/>
                </a:solidFill>
              </a:rPr>
              <a:t>Restate the key constraint in one line afterwards</a:t>
            </a:r>
            <a:endParaRPr lang="en-US" sz="1500" dirty="0"/>
          </a:p>
          <a:p>
            <a:pPr marL="228600" indent="-228600">
              <a:spcAft>
                <a:spcPts val="1000"/>
              </a:spcAft>
              <a:buSzPct val="100000"/>
              <a:buChar char="•"/>
            </a:pPr>
            <a:r>
              <a:rPr lang="en-US" sz="1500" dirty="0">
                <a:solidFill>
                  <a:schemeClr val="tx1"/>
                </a:solidFill>
              </a:rPr>
              <a:t>Went the wrong way? Rewind (Esc Esc · /rewind) - don't argue with it</a:t>
            </a:r>
            <a:endParaRPr lang="en-US" sz="1500" dirty="0"/>
          </a:p>
          <a:p>
            <a:pPr marL="228600" indent="-228600">
              <a:spcAft>
                <a:spcPts val="1000"/>
              </a:spcAft>
              <a:buSzPct val="100000"/>
              <a:buChar char="•"/>
            </a:pPr>
            <a:r>
              <a:rPr lang="en-US" sz="1500" dirty="0">
                <a:solidFill>
                  <a:schemeClr val="tx1"/>
                </a:solidFill>
              </a:rPr>
              <a:t>Don't wait for auto-compact; it chooses what you lose</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Progressive disclosure for agent docs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Load knowledge in layers. The agent pays only for the layer the current step needs.</a:t>
            </a:r>
            <a:endParaRPr lang="en-US" sz="1500" dirty="0"/>
          </a:p>
        </p:txBody>
      </p:sp>
      <p:sp>
        <p:nvSpPr>
          <p:cNvPr id="5" name="layer"/>
          <p:cNvSpPr/>
          <p:nvPr/>
        </p:nvSpPr>
        <p:spPr>
          <a:xfrm>
            <a:off x="640080" y="1691640"/>
            <a:ext cx="4206240" cy="841248"/>
          </a:xfrm>
          <a:prstGeom prst="roundRect">
            <a:avLst>
              <a:gd name="adj" fmla="val 8696"/>
            </a:avLst>
          </a:prstGeom>
          <a:solidFill>
            <a:schemeClr val="tx2"/>
          </a:solidFill>
          <a:ln w="12700">
            <a:solidFill>
              <a:schemeClr val="tx2"/>
            </a:solidFill>
            <a:prstDash val="solid"/>
          </a:ln>
        </p:spPr>
      </p:sp>
      <p:sp>
        <p:nvSpPr>
          <p:cNvPr id="6" name="Text 4"/>
          <p:cNvSpPr txBox="1"/>
          <p:nvPr/>
        </p:nvSpPr>
        <p:spPr>
          <a:xfrm>
            <a:off x="868680" y="1783080"/>
            <a:ext cx="3840480" cy="347472"/>
          </a:xfrm>
          <a:prstGeom prst="rect">
            <a:avLst/>
          </a:prstGeom>
          <a:noFill/>
          <a:ln/>
        </p:spPr>
        <p:txBody>
          <a:bodyPr wrap="square" lIns="0" tIns="0" rIns="0" bIns="0" rtlCol="0" anchor="t"/>
          <a:lstStyle/>
          <a:p>
            <a:pPr indent="0" marL="0">
              <a:buNone/>
            </a:pPr>
            <a:r>
              <a:rPr lang="en-US" sz="1700" b="1" dirty="0">
                <a:solidFill>
                  <a:schemeClr val="bg1"/>
                </a:solidFill>
              </a:rPr>
              <a:t>0  Always loaded</a:t>
            </a:r>
            <a:endParaRPr lang="en-US" sz="1700" dirty="0"/>
          </a:p>
        </p:txBody>
      </p:sp>
      <p:sp>
        <p:nvSpPr>
          <p:cNvPr id="7" name="Text 5"/>
          <p:cNvSpPr txBox="1"/>
          <p:nvPr/>
        </p:nvSpPr>
        <p:spPr>
          <a:xfrm>
            <a:off x="868680" y="2130552"/>
            <a:ext cx="3840480" cy="347472"/>
          </a:xfrm>
          <a:prstGeom prst="rect">
            <a:avLst/>
          </a:prstGeom>
          <a:noFill/>
          <a:ln/>
        </p:spPr>
        <p:txBody>
          <a:bodyPr wrap="square" lIns="0" tIns="0" rIns="0" bIns="0" rtlCol="0" anchor="t"/>
          <a:lstStyle/>
          <a:p>
            <a:pPr indent="0" marL="0">
              <a:buNone/>
            </a:pPr>
            <a:r>
              <a:rPr lang="en-US" sz="1300" dirty="0">
                <a:solidFill>
                  <a:schemeClr val="bg1"/>
                </a:solidFill>
              </a:rPr>
              <a:t>CLAUDE.md / AGENTS.md: commands, non-negotiables, pointers</a:t>
            </a:r>
            <a:endParaRPr lang="en-US" sz="1300" dirty="0"/>
          </a:p>
        </p:txBody>
      </p:sp>
      <p:sp>
        <p:nvSpPr>
          <p:cNvPr id="8" name="Text 6"/>
          <p:cNvSpPr txBox="1"/>
          <p:nvPr/>
        </p:nvSpPr>
        <p:spPr>
          <a:xfrm>
            <a:off x="5074920" y="1920240"/>
            <a:ext cx="6446520" cy="411480"/>
          </a:xfrm>
          <a:prstGeom prst="rect">
            <a:avLst/>
          </a:prstGeom>
          <a:noFill/>
          <a:ln/>
        </p:spPr>
        <p:txBody>
          <a:bodyPr wrap="square" lIns="0" tIns="0" rIns="0" bIns="0" rtlCol="0" anchor="ctr"/>
          <a:lstStyle/>
          <a:p>
            <a:pPr indent="0" marL="0">
              <a:buNone/>
            </a:pPr>
            <a:r>
              <a:rPr lang="en-US" sz="1400" b="1" dirty="0">
                <a:solidFill>
                  <a:schemeClr val="tx2"/>
                </a:solidFill>
              </a:rPr>
              <a:t>every turn · ~1 screen</a:t>
            </a:r>
            <a:endParaRPr lang="en-US" sz="1400" dirty="0"/>
          </a:p>
        </p:txBody>
      </p:sp>
      <p:sp>
        <p:nvSpPr>
          <p:cNvPr id="9" name="layer"/>
          <p:cNvSpPr/>
          <p:nvPr/>
        </p:nvSpPr>
        <p:spPr>
          <a:xfrm>
            <a:off x="640080" y="2679192"/>
            <a:ext cx="5212080" cy="841248"/>
          </a:xfrm>
          <a:prstGeom prst="roundRect">
            <a:avLst>
              <a:gd name="adj" fmla="val 8696"/>
            </a:avLst>
          </a:prstGeom>
          <a:solidFill>
            <a:schemeClr val="accent1"/>
          </a:solidFill>
          <a:ln w="12700">
            <a:solidFill>
              <a:schemeClr val="accent1"/>
            </a:solidFill>
            <a:prstDash val="solid"/>
          </a:ln>
        </p:spPr>
      </p:sp>
      <p:sp>
        <p:nvSpPr>
          <p:cNvPr id="10" name="Text 8"/>
          <p:cNvSpPr txBox="1"/>
          <p:nvPr/>
        </p:nvSpPr>
        <p:spPr>
          <a:xfrm>
            <a:off x="868680" y="2770632"/>
            <a:ext cx="4846320" cy="347472"/>
          </a:xfrm>
          <a:prstGeom prst="rect">
            <a:avLst/>
          </a:prstGeom>
          <a:noFill/>
          <a:ln/>
        </p:spPr>
        <p:txBody>
          <a:bodyPr wrap="square" lIns="0" tIns="0" rIns="0" bIns="0" rtlCol="0" anchor="t"/>
          <a:lstStyle/>
          <a:p>
            <a:pPr indent="0" marL="0">
              <a:buNone/>
            </a:pPr>
            <a:r>
              <a:rPr lang="en-US" sz="1700" b="1" dirty="0">
                <a:solidFill>
                  <a:schemeClr val="bg1"/>
                </a:solidFill>
              </a:rPr>
              <a:t>1  Routing map</a:t>
            </a:r>
            <a:endParaRPr lang="en-US" sz="1700" dirty="0"/>
          </a:p>
        </p:txBody>
      </p:sp>
      <p:sp>
        <p:nvSpPr>
          <p:cNvPr id="11" name="Text 9"/>
          <p:cNvSpPr txBox="1"/>
          <p:nvPr/>
        </p:nvSpPr>
        <p:spPr>
          <a:xfrm>
            <a:off x="868680" y="3118104"/>
            <a:ext cx="4846320" cy="347472"/>
          </a:xfrm>
          <a:prstGeom prst="rect">
            <a:avLst/>
          </a:prstGeom>
          <a:noFill/>
          <a:ln/>
        </p:spPr>
        <p:txBody>
          <a:bodyPr wrap="square" lIns="0" tIns="0" rIns="0" bIns="0" rtlCol="0" anchor="t"/>
          <a:lstStyle/>
          <a:p>
            <a:pPr indent="0" marL="0">
              <a:buNone/>
            </a:pPr>
            <a:r>
              <a:rPr lang="en-US" sz="1300" dirty="0">
                <a:solidFill>
                  <a:schemeClr val="bg1"/>
                </a:solidFill>
              </a:rPr>
              <a:t>docs/architecture.md: which file owns what</a:t>
            </a:r>
            <a:endParaRPr lang="en-US" sz="1300" dirty="0"/>
          </a:p>
        </p:txBody>
      </p:sp>
      <p:sp>
        <p:nvSpPr>
          <p:cNvPr id="12" name="Text 10"/>
          <p:cNvSpPr txBox="1"/>
          <p:nvPr/>
        </p:nvSpPr>
        <p:spPr>
          <a:xfrm>
            <a:off x="6080760" y="2907792"/>
            <a:ext cx="5440680" cy="411480"/>
          </a:xfrm>
          <a:prstGeom prst="rect">
            <a:avLst/>
          </a:prstGeom>
          <a:noFill/>
          <a:ln/>
        </p:spPr>
        <p:txBody>
          <a:bodyPr wrap="square" lIns="0" tIns="0" rIns="0" bIns="0" rtlCol="0" anchor="ctr"/>
          <a:lstStyle/>
          <a:p>
            <a:pPr indent="0" marL="0">
              <a:buNone/>
            </a:pPr>
            <a:r>
              <a:rPr lang="en-US" sz="1400" b="1" dirty="0">
                <a:solidFill>
                  <a:schemeClr val="accent1"/>
                </a:solidFill>
              </a:rPr>
              <a:t>when locating code</a:t>
            </a:r>
            <a:endParaRPr lang="en-US" sz="1400" dirty="0"/>
          </a:p>
        </p:txBody>
      </p:sp>
      <p:sp>
        <p:nvSpPr>
          <p:cNvPr id="13" name="layer"/>
          <p:cNvSpPr/>
          <p:nvPr/>
        </p:nvSpPr>
        <p:spPr>
          <a:xfrm>
            <a:off x="640080" y="3666744"/>
            <a:ext cx="6217920" cy="841248"/>
          </a:xfrm>
          <a:prstGeom prst="roundRect">
            <a:avLst>
              <a:gd name="adj" fmla="val 8696"/>
            </a:avLst>
          </a:prstGeom>
          <a:solidFill>
            <a:schemeClr val="accent2"/>
          </a:solidFill>
          <a:ln w="12700">
            <a:solidFill>
              <a:schemeClr val="accent2"/>
            </a:solidFill>
            <a:prstDash val="solid"/>
          </a:ln>
        </p:spPr>
      </p:sp>
      <p:sp>
        <p:nvSpPr>
          <p:cNvPr id="14" name="Text 12"/>
          <p:cNvSpPr txBox="1"/>
          <p:nvPr/>
        </p:nvSpPr>
        <p:spPr>
          <a:xfrm>
            <a:off x="868680" y="3758184"/>
            <a:ext cx="5852160" cy="347472"/>
          </a:xfrm>
          <a:prstGeom prst="rect">
            <a:avLst/>
          </a:prstGeom>
          <a:noFill/>
          <a:ln/>
        </p:spPr>
        <p:txBody>
          <a:bodyPr wrap="square" lIns="0" tIns="0" rIns="0" bIns="0" rtlCol="0" anchor="t"/>
          <a:lstStyle/>
          <a:p>
            <a:pPr indent="0" marL="0">
              <a:buNone/>
            </a:pPr>
            <a:r>
              <a:rPr lang="en-US" sz="1700" b="1" dirty="0">
                <a:solidFill>
                  <a:schemeClr val="bg1"/>
                </a:solidFill>
              </a:rPr>
              <a:t>2  Scoped rules</a:t>
            </a:r>
            <a:endParaRPr lang="en-US" sz="1700" dirty="0"/>
          </a:p>
        </p:txBody>
      </p:sp>
      <p:sp>
        <p:nvSpPr>
          <p:cNvPr id="15" name="Text 13"/>
          <p:cNvSpPr txBox="1"/>
          <p:nvPr/>
        </p:nvSpPr>
        <p:spPr>
          <a:xfrm>
            <a:off x="868680" y="4105656"/>
            <a:ext cx="5852160" cy="347472"/>
          </a:xfrm>
          <a:prstGeom prst="rect">
            <a:avLst/>
          </a:prstGeom>
          <a:noFill/>
          <a:ln/>
        </p:spPr>
        <p:txBody>
          <a:bodyPr wrap="square" lIns="0" tIns="0" rIns="0" bIns="0" rtlCol="0" anchor="t"/>
          <a:lstStyle/>
          <a:p>
            <a:pPr indent="0" marL="0">
              <a:buNone/>
            </a:pPr>
            <a:r>
              <a:rPr lang="en-US" sz="1300" dirty="0">
                <a:solidFill>
                  <a:schemeClr val="bg1"/>
                </a:solidFill>
              </a:rPr>
              <a:t>.cursor/rules with globs · nested CLAUDE.md</a:t>
            </a:r>
            <a:endParaRPr lang="en-US" sz="1300" dirty="0"/>
          </a:p>
        </p:txBody>
      </p:sp>
      <p:sp>
        <p:nvSpPr>
          <p:cNvPr id="16" name="Text 14"/>
          <p:cNvSpPr txBox="1"/>
          <p:nvPr/>
        </p:nvSpPr>
        <p:spPr>
          <a:xfrm>
            <a:off x="7086600" y="3895344"/>
            <a:ext cx="4434840" cy="411480"/>
          </a:xfrm>
          <a:prstGeom prst="rect">
            <a:avLst/>
          </a:prstGeom>
          <a:noFill/>
          <a:ln/>
        </p:spPr>
        <p:txBody>
          <a:bodyPr wrap="square" lIns="0" tIns="0" rIns="0" bIns="0" rtlCol="0" anchor="ctr"/>
          <a:lstStyle/>
          <a:p>
            <a:pPr indent="0" marL="0">
              <a:buNone/>
            </a:pPr>
            <a:r>
              <a:rPr lang="en-US" sz="1400" b="1" dirty="0">
                <a:solidFill>
                  <a:schemeClr val="accent2"/>
                </a:solidFill>
              </a:rPr>
              <a:t>when matching files are touched</a:t>
            </a:r>
            <a:endParaRPr lang="en-US" sz="1400" dirty="0"/>
          </a:p>
        </p:txBody>
      </p:sp>
      <p:sp>
        <p:nvSpPr>
          <p:cNvPr id="17" name="layer"/>
          <p:cNvSpPr/>
          <p:nvPr/>
        </p:nvSpPr>
        <p:spPr>
          <a:xfrm>
            <a:off x="640080" y="4654296"/>
            <a:ext cx="7223760" cy="841248"/>
          </a:xfrm>
          <a:prstGeom prst="roundRect">
            <a:avLst>
              <a:gd name="adj" fmla="val 8696"/>
            </a:avLst>
          </a:prstGeom>
          <a:solidFill>
            <a:schemeClr val="accent3"/>
          </a:solidFill>
          <a:ln w="12700">
            <a:solidFill>
              <a:schemeClr val="accent3"/>
            </a:solidFill>
            <a:prstDash val="solid"/>
          </a:ln>
        </p:spPr>
      </p:sp>
      <p:sp>
        <p:nvSpPr>
          <p:cNvPr id="18" name="Text 16"/>
          <p:cNvSpPr txBox="1"/>
          <p:nvPr/>
        </p:nvSpPr>
        <p:spPr>
          <a:xfrm>
            <a:off x="868680" y="4745736"/>
            <a:ext cx="6858000" cy="347472"/>
          </a:xfrm>
          <a:prstGeom prst="rect">
            <a:avLst/>
          </a:prstGeom>
          <a:noFill/>
          <a:ln/>
        </p:spPr>
        <p:txBody>
          <a:bodyPr wrap="square" lIns="0" tIns="0" rIns="0" bIns="0" rtlCol="0" anchor="t"/>
          <a:lstStyle/>
          <a:p>
            <a:pPr indent="0" marL="0">
              <a:buNone/>
            </a:pPr>
            <a:r>
              <a:rPr lang="en-US" sz="1700" b="1" dirty="0">
                <a:solidFill>
                  <a:schemeClr val="bg1"/>
                </a:solidFill>
              </a:rPr>
              <a:t>3  Deep docs</a:t>
            </a:r>
            <a:endParaRPr lang="en-US" sz="1700" dirty="0"/>
          </a:p>
        </p:txBody>
      </p:sp>
      <p:sp>
        <p:nvSpPr>
          <p:cNvPr id="19" name="Text 17"/>
          <p:cNvSpPr txBox="1"/>
          <p:nvPr/>
        </p:nvSpPr>
        <p:spPr>
          <a:xfrm>
            <a:off x="868680" y="5093208"/>
            <a:ext cx="6858000" cy="347472"/>
          </a:xfrm>
          <a:prstGeom prst="rect">
            <a:avLst/>
          </a:prstGeom>
          <a:noFill/>
          <a:ln/>
        </p:spPr>
        <p:txBody>
          <a:bodyPr wrap="square" lIns="0" tIns="0" rIns="0" bIns="0" rtlCol="0" anchor="t"/>
          <a:lstStyle/>
          <a:p>
            <a:pPr indent="0" marL="0">
              <a:buNone/>
            </a:pPr>
            <a:r>
              <a:rPr lang="en-US" sz="1300" dirty="0">
                <a:solidFill>
                  <a:schemeClr val="bg1"/>
                </a:solidFill>
              </a:rPr>
              <a:t>Decision records, runbooks, skills, specs</a:t>
            </a:r>
            <a:endParaRPr lang="en-US" sz="1300" dirty="0"/>
          </a:p>
        </p:txBody>
      </p:sp>
      <p:sp>
        <p:nvSpPr>
          <p:cNvPr id="20" name="Text 18"/>
          <p:cNvSpPr txBox="1"/>
          <p:nvPr/>
        </p:nvSpPr>
        <p:spPr>
          <a:xfrm>
            <a:off x="8092440" y="4882896"/>
            <a:ext cx="3429000" cy="411480"/>
          </a:xfrm>
          <a:prstGeom prst="rect">
            <a:avLst/>
          </a:prstGeom>
          <a:noFill/>
          <a:ln/>
        </p:spPr>
        <p:txBody>
          <a:bodyPr wrap="square" lIns="0" tIns="0" rIns="0" bIns="0" rtlCol="0" anchor="ctr"/>
          <a:lstStyle/>
          <a:p>
            <a:pPr indent="0" marL="0">
              <a:buNone/>
            </a:pPr>
            <a:r>
              <a:rPr lang="en-US" sz="1400" b="1" dirty="0">
                <a:solidFill>
                  <a:schemeClr val="accent3"/>
                </a:solidFill>
              </a:rPr>
              <a:t>only when changing that rule</a:t>
            </a:r>
            <a:endParaRPr lang="en-US" sz="1400" dirty="0"/>
          </a:p>
        </p:txBody>
      </p:sp>
      <p:sp>
        <p:nvSpPr>
          <p:cNvPr id="2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22" name="Text 2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Skills and description-based rules work the same way: a one-line description is always loaded; the body loads only when it's relevant.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Pointers, not paragraphs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Layer 0 should tell the agent where to look, not everything it might need to know.</a:t>
            </a:r>
            <a:endParaRPr lang="en-US" sz="1500" dirty="0"/>
          </a:p>
        </p:txBody>
      </p:sp>
      <p:sp>
        <p:nvSpPr>
          <p:cNvPr id="5" name="Text 3"/>
          <p:cNvSpPr txBox="1"/>
          <p:nvPr/>
        </p:nvSpPr>
        <p:spPr>
          <a:xfrm>
            <a:off x="640080" y="1691640"/>
            <a:ext cx="53035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PARCEL-PILOT'S CLAUDE.md (ABRIDGED)</a:t>
            </a:r>
            <a:endParaRPr lang="en-US" sz="1200" dirty="0"/>
          </a:p>
        </p:txBody>
      </p:sp>
      <p:sp>
        <p:nvSpPr>
          <p:cNvPr id="6" name="panel"/>
          <p:cNvSpPr/>
          <p:nvPr/>
        </p:nvSpPr>
        <p:spPr>
          <a:xfrm>
            <a:off x="640080" y="2011680"/>
            <a:ext cx="5303520" cy="3520440"/>
          </a:xfrm>
          <a:prstGeom prst="roundRect">
            <a:avLst>
              <a:gd name="adj" fmla="val 2078"/>
            </a:avLst>
          </a:prstGeom>
          <a:solidFill>
            <a:schemeClr val="tx1"/>
          </a:solidFill>
          <a:ln w="12700">
            <a:solidFill>
              <a:schemeClr val="tx1"/>
            </a:solidFill>
            <a:prstDash val="solid"/>
          </a:ln>
        </p:spPr>
      </p:sp>
      <p:sp>
        <p:nvSpPr>
          <p:cNvPr id="7" name="code"/>
          <p:cNvSpPr txBox="1"/>
          <p:nvPr/>
        </p:nvSpPr>
        <p:spPr>
          <a:xfrm>
            <a:off x="868680" y="2176272"/>
            <a:ext cx="4846320" cy="319125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 Test one file: npm test -- &lt;path&gt;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Money is integer minor units.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archive/ is historical; never use it.</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Run the narrowest test before the full</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suite.</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Read docs/architecture.md only when you</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need to locate code.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Read the relevant docs/decisions/ record</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only when changing a business rule.</a:t>
            </a:r>
            <a:endParaRPr lang="en-US" sz="1400" dirty="0"/>
          </a:p>
        </p:txBody>
      </p:sp>
      <p:sp>
        <p:nvSpPr>
          <p:cNvPr id="8" name="Text 6"/>
          <p:cNvSpPr txBox="1"/>
          <p:nvPr/>
        </p:nvSpPr>
        <p:spPr>
          <a:xfrm>
            <a:off x="6217920" y="1691640"/>
            <a:ext cx="530352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THE BLOATED VERSION</a:t>
            </a:r>
            <a:endParaRPr lang="en-US" sz="1200" dirty="0"/>
          </a:p>
        </p:txBody>
      </p:sp>
      <p:sp>
        <p:nvSpPr>
          <p:cNvPr id="9" name="panel"/>
          <p:cNvSpPr/>
          <p:nvPr/>
        </p:nvSpPr>
        <p:spPr>
          <a:xfrm>
            <a:off x="6217920" y="2011680"/>
            <a:ext cx="5303520" cy="3520440"/>
          </a:xfrm>
          <a:prstGeom prst="roundRect">
            <a:avLst>
              <a:gd name="adj" fmla="val 2078"/>
            </a:avLst>
          </a:prstGeom>
          <a:solidFill>
            <a:schemeClr val="tx1"/>
          </a:solidFill>
          <a:ln w="12700">
            <a:solidFill>
              <a:schemeClr val="tx1"/>
            </a:solidFill>
            <a:prstDash val="solid"/>
          </a:ln>
        </p:spPr>
      </p:sp>
      <p:sp>
        <p:nvSpPr>
          <p:cNvPr id="10" name="code"/>
          <p:cNvSpPr txBox="1"/>
          <p:nvPr/>
        </p:nvSpPr>
        <p:spPr>
          <a:xfrm>
            <a:off x="6446520" y="2176272"/>
            <a:ext cx="4846320" cy="319125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 Pricing</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Discounts apply before tax. Shipping is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taxable. Wholesale tiers get... (40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Notifications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Retries are... backoff is... (30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Promotions  (25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History</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In 2024 we migrated... (60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Things that went wrong once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p:txBody>
      </p:sp>
      <p:sp>
        <p:nvSpPr>
          <p:cNvPr id="1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12" name="Text 1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Every line in an always-loaded file should earn its place on every task - including the ones that never touch pricing.</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Put each lesson at the narrowest layer</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Whatever loads automatically is paid for on every turn of every session, by everyone on the team.</a:t>
            </a:r>
            <a:endParaRPr lang="en-US" sz="1500" dirty="0"/>
          </a:p>
        </p:txBody>
      </p:sp>
      <p:sp>
        <p:nvSpPr>
          <p:cNvPr id="5" name="panel"/>
          <p:cNvSpPr/>
          <p:nvPr/>
        </p:nvSpPr>
        <p:spPr>
          <a:xfrm>
            <a:off x="640080" y="1691640"/>
            <a:ext cx="4206240" cy="3429000"/>
          </a:xfrm>
          <a:prstGeom prst="roundRect">
            <a:avLst>
              <a:gd name="adj" fmla="val 2133"/>
            </a:avLst>
          </a:prstGeom>
          <a:solidFill>
            <a:schemeClr val="bg2"/>
          </a:solidFill>
          <a:ln w="12700">
            <a:solidFill>
              <a:schemeClr val="bg2"/>
            </a:solidFill>
            <a:prstDash val="solid"/>
          </a:ln>
        </p:spPr>
      </p:sp>
      <p:sp>
        <p:nvSpPr>
          <p:cNvPr id="6" name="Text 4"/>
          <p:cNvSpPr txBox="1"/>
          <p:nvPr/>
        </p:nvSpPr>
        <p:spPr>
          <a:xfrm>
            <a:off x="914400" y="19202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PAID ON EVERY TURN</a:t>
            </a:r>
            <a:endParaRPr lang="en-US" sz="1200" dirty="0"/>
          </a:p>
        </p:txBody>
      </p:sp>
      <p:sp>
        <p:nvSpPr>
          <p:cNvPr id="7" name="Text 5"/>
          <p:cNvSpPr txBox="1"/>
          <p:nvPr/>
        </p:nvSpPr>
        <p:spPr>
          <a:xfrm>
            <a:off x="914400" y="2286000"/>
            <a:ext cx="3657600" cy="18288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CLAUDE.md and AGENTS.md</a:t>
            </a:r>
            <a:endParaRPr lang="en-US" sz="1600" dirty="0"/>
          </a:p>
          <a:p>
            <a:pPr marL="228600" indent="-228600">
              <a:spcAft>
                <a:spcPts val="600"/>
              </a:spcAft>
              <a:buSzPct val="100000"/>
              <a:buChar char="•"/>
            </a:pPr>
            <a:r>
              <a:rPr lang="en-US" sz="1600" dirty="0">
                <a:solidFill>
                  <a:schemeClr val="tx1"/>
                </a:solidFill>
              </a:rPr>
              <a:t>Cursor rules with alwaysApply</a:t>
            </a:r>
            <a:endParaRPr lang="en-US" sz="1600" dirty="0"/>
          </a:p>
          <a:p>
            <a:pPr marL="228600" indent="-228600">
              <a:spcAft>
                <a:spcPts val="600"/>
              </a:spcAft>
              <a:buSzPct val="100000"/>
              <a:buChar char="•"/>
            </a:pPr>
            <a:r>
              <a:rPr lang="en-US" sz="1600" dirty="0">
                <a:solidFill>
                  <a:schemeClr val="tx1"/>
                </a:solidFill>
              </a:rPr>
              <a:t>MCP servers' tool definitions</a:t>
            </a:r>
            <a:endParaRPr lang="en-US" sz="1600" dirty="0"/>
          </a:p>
          <a:p>
            <a:pPr marL="228600" indent="-228600">
              <a:spcAft>
                <a:spcPts val="600"/>
              </a:spcAft>
              <a:buSzPct val="100000"/>
              <a:buChar char="•"/>
            </a:pPr>
            <a:r>
              <a:rPr lang="en-US" sz="1600" dirty="0">
                <a:solidFill>
                  <a:schemeClr val="tx1"/>
                </a:solidFill>
              </a:rPr>
              <a:t>Every message already in the chat</a:t>
            </a:r>
            <a:endParaRPr lang="en-US" sz="1600" dirty="0"/>
          </a:p>
        </p:txBody>
      </p:sp>
      <p:sp>
        <p:nvSpPr>
          <p:cNvPr id="8" name="Text 6"/>
          <p:cNvSpPr txBox="1"/>
          <p:nvPr/>
        </p:nvSpPr>
        <p:spPr>
          <a:xfrm>
            <a:off x="914400" y="3840480"/>
            <a:ext cx="3657600" cy="1097280"/>
          </a:xfrm>
          <a:prstGeom prst="rect">
            <a:avLst/>
          </a:prstGeom>
          <a:noFill/>
          <a:ln/>
        </p:spPr>
        <p:txBody>
          <a:bodyPr wrap="square" lIns="0" tIns="0" rIns="0" bIns="0" rtlCol="0" anchor="t"/>
          <a:lstStyle/>
          <a:p>
            <a:pPr indent="0" marL="0">
              <a:buNone/>
            </a:pPr>
            <a:r>
              <a:rPr lang="en-US" sz="1500" b="1" dirty="0">
                <a:solidFill>
                  <a:schemeClr val="tx2"/>
                </a:solidFill>
              </a:rPr>
              <a:t>Keep layer 0 to about one screen. Disable MCP servers you aren't using in this task.</a:t>
            </a:r>
            <a:endParaRPr lang="en-US" sz="1500" dirty="0"/>
          </a:p>
        </p:txBody>
      </p:sp>
      <p:graphicFrame>
        <p:nvGraphicFramePr>
          <p:cNvPr id="22" name="knowledge table"/>
          <p:cNvGraphicFramePr>
            <a:graphicFrameLocks noGrp="1"/>
          </p:cNvGraphicFramePr>
          <p:nvPr>
            <p:extLst>
              <p:ext uri="{D42A27DB-BD31-4B8C-83A1-F6EECF244321}">
                <p14:modId xmlns:p14="http://schemas.microsoft.com/office/powerpoint/2010/main" val="1579011935"/>
              </p:ext>
            </p:extLst>
          </p:nvPr>
        </p:nvGraphicFramePr>
        <p:xfrm>
          <a:off x="5120640" y="1691640"/>
          <a:ext cx="6400800" cy="914400"/>
        </p:xfrm>
        <a:graphic>
          <a:graphicData uri="http://schemas.openxmlformats.org/drawingml/2006/table">
            <a:tbl>
              <a:tblPr/>
              <a:tblGrid>
                <a:gridCol w="3108960"/>
                <a:gridCol w="3291840"/>
              </a:tblGrid>
              <a:tr h="566928">
                <a:tc>
                  <a:txBody>
                    <a:bodyPr/>
                    <a:lstStyle/>
                    <a:p>
                      <a:pPr indent="0" marL="0">
                        <a:buNone/>
                      </a:pPr>
                      <a:r>
                        <a:rPr lang="en-US" sz="1500" b="1" dirty="0">
                          <a:solidFill>
                            <a:schemeClr val="bg1"/>
                          </a:solidFill>
                        </a:rPr>
                        <a:t>Lesson learned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Where it belongs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rPr>
                        <a:t>Money is integer minor units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0 - one line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Pricing operation order</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2 rule + layer 3 ADR</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Free shipping starts at £100</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Policy constant + test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A retry excludes attempt 1</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2 notifications rule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"Task 1 took three prompts"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Nowhere. Let it go.</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10" name="Text 7"/>
          <p:cNvSpPr txBox="1"/>
          <p:nvPr/>
        </p:nvSpPr>
        <p:spPr>
          <a:xfrm>
            <a:off x="5120640" y="5303520"/>
            <a:ext cx="6400800" cy="548640"/>
          </a:xfrm>
          <a:prstGeom prst="rect">
            <a:avLst/>
          </a:prstGeom>
          <a:noFill/>
          <a:ln/>
        </p:spPr>
        <p:txBody>
          <a:bodyPr wrap="square" lIns="0" tIns="0" rIns="0" bIns="0" rtlCol="0" anchor="t"/>
          <a:lstStyle/>
          <a:p>
            <a:pPr indent="0" marL="0">
              <a:buNone/>
            </a:pPr>
            <a:r>
              <a:rPr lang="en-US" sz="1500" dirty="0">
                <a:solidFill>
                  <a:schemeClr val="accent3"/>
                </a:solidFill>
              </a:rPr>
              <a:t>After a bad session, resist "add it to CLAUDE.md". Find the narrowest layer where it will still be found.</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3 · EUGENE</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3 · New goal, fresh context</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Cursor CLI (agent) · the subject changes from pricing to notifications</a:t>
            </a:r>
            <a:endParaRPr lang="en-US" sz="1600" dirty="0"/>
          </a:p>
        </p:txBody>
      </p:sp>
      <p:sp>
        <p:nvSpPr>
          <p:cNvPr id="5" name="glyph circle"/>
          <p:cNvSpPr/>
          <p:nvPr/>
        </p:nvSpPr>
        <p:spPr>
          <a:xfrm>
            <a:off x="640080" y="228600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2304288"/>
            <a:ext cx="5486400" cy="685800"/>
          </a:xfrm>
          <a:prstGeom prst="rect">
            <a:avLst/>
          </a:prstGeom>
          <a:noFill/>
          <a:ln/>
        </p:spPr>
        <p:txBody>
          <a:bodyPr wrap="square" lIns="0" tIns="0" rIns="0" bIns="0" rtlCol="0" anchor="t"/>
          <a:lstStyle/>
          <a:p>
            <a:pPr indent="0" marL="0">
              <a:buNone/>
            </a:pPr>
            <a:r>
              <a:rPr lang="en-US" sz="1600" dirty="0">
                <a:solidFill>
                  <a:schemeClr val="bg1"/>
                </a:solidFill>
              </a:rPr>
              <a:t>New goal, so /clear. Show AGENTS.md: a few lines, mostly pointers.</a:t>
            </a:r>
            <a:endParaRPr lang="en-US" sz="1600" dirty="0"/>
          </a:p>
        </p:txBody>
      </p:sp>
      <p:sp>
        <p:nvSpPr>
          <p:cNvPr id="8" name="glyph circle"/>
          <p:cNvSpPr/>
          <p:nvPr/>
        </p:nvSpPr>
        <p:spPr>
          <a:xfrm>
            <a:off x="640080" y="3072384"/>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640080" y="307238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280160" y="3090672"/>
            <a:ext cx="5486400" cy="685800"/>
          </a:xfrm>
          <a:prstGeom prst="rect">
            <a:avLst/>
          </a:prstGeom>
          <a:noFill/>
          <a:ln/>
        </p:spPr>
        <p:txBody>
          <a:bodyPr wrap="square" lIns="0" tIns="0" rIns="0" bIns="0" rtlCol="0" anchor="t"/>
          <a:lstStyle/>
          <a:p>
            <a:pPr indent="0" marL="0">
              <a:buNone/>
            </a:pPr>
            <a:r>
              <a:rPr lang="en-US" sz="1600" dirty="0">
                <a:solidFill>
                  <a:schemeClr val="bg1"/>
                </a:solidFill>
              </a:rPr>
              <a:t>Shift+Tab to Plan. @ the retry policy and its test; the prompt points at ADR 003.</a:t>
            </a:r>
            <a:endParaRPr lang="en-US" sz="1600" dirty="0"/>
          </a:p>
        </p:txBody>
      </p:sp>
      <p:sp>
        <p:nvSpPr>
          <p:cNvPr id="11" name="glyph circle"/>
          <p:cNvSpPr/>
          <p:nvPr/>
        </p:nvSpPr>
        <p:spPr>
          <a:xfrm>
            <a:off x="640080" y="3858768"/>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0080" y="3858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3877056"/>
            <a:ext cx="5486400" cy="685800"/>
          </a:xfrm>
          <a:prstGeom prst="rect">
            <a:avLst/>
          </a:prstGeom>
          <a:noFill/>
          <a:ln/>
        </p:spPr>
        <p:txBody>
          <a:bodyPr wrap="square" lIns="0" tIns="0" rIns="0" bIns="0" rtlCol="0" anchor="t"/>
          <a:lstStyle/>
          <a:p>
            <a:pPr indent="0" marL="0">
              <a:buNone/>
            </a:pPr>
            <a:r>
              <a:rPr lang="en-US" sz="1600" dirty="0">
                <a:solidFill>
                  <a:schemeClr val="bg1"/>
                </a:solidFill>
              </a:rPr>
              <a:t>Spot the trap: two retries means three attempts. Did the plan get it right?</a:t>
            </a:r>
            <a:endParaRPr lang="en-US" sz="1600" dirty="0"/>
          </a:p>
        </p:txBody>
      </p:sp>
      <p:sp>
        <p:nvSpPr>
          <p:cNvPr id="14" name="glyph circle"/>
          <p:cNvSpPr/>
          <p:nvPr/>
        </p:nvSpPr>
        <p:spPr>
          <a:xfrm>
            <a:off x="640080" y="4645152"/>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40080" y="464515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4"/>
          <p:cNvSpPr txBox="1"/>
          <p:nvPr/>
        </p:nvSpPr>
        <p:spPr>
          <a:xfrm>
            <a:off x="1280160" y="4663440"/>
            <a:ext cx="5486400" cy="685800"/>
          </a:xfrm>
          <a:prstGeom prst="rect">
            <a:avLst/>
          </a:prstGeom>
          <a:noFill/>
          <a:ln/>
        </p:spPr>
        <p:txBody>
          <a:bodyPr wrap="square" lIns="0" tIns="0" rIns="0" bIns="0" rtlCol="0" anchor="t"/>
          <a:lstStyle/>
          <a:p>
            <a:pPr indent="0" marL="0">
              <a:buNone/>
            </a:pPr>
            <a:r>
              <a:rPr lang="en-US" sz="1600" dirty="0">
                <a:solidFill>
                  <a:schemeClr val="bg1"/>
                </a:solidFill>
              </a:rPr>
              <a:t>Build. Narrow test, typecheck, hidden verification. /summarize if it got long.</a:t>
            </a:r>
            <a:endParaRPr lang="en-US" sz="1600" dirty="0"/>
          </a:p>
        </p:txBody>
      </p:sp>
      <p:sp>
        <p:nvSpPr>
          <p:cNvPr id="17" name="glyph circle"/>
          <p:cNvSpPr/>
          <p:nvPr/>
        </p:nvSpPr>
        <p:spPr>
          <a:xfrm>
            <a:off x="640080" y="5431536"/>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640080" y="54315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Text 17"/>
          <p:cNvSpPr txBox="1"/>
          <p:nvPr/>
        </p:nvSpPr>
        <p:spPr>
          <a:xfrm>
            <a:off x="1280160" y="5449824"/>
            <a:ext cx="5486400" cy="685800"/>
          </a:xfrm>
          <a:prstGeom prst="rect">
            <a:avLst/>
          </a:prstGeom>
          <a:noFill/>
          <a:ln/>
        </p:spPr>
        <p:txBody>
          <a:bodyPr wrap="square" lIns="0" tIns="0" rIns="0" bIns="0" rtlCol="0" anchor="t"/>
          <a:lstStyle/>
          <a:p>
            <a:pPr indent="0" marL="0">
              <a:buNone/>
            </a:pPr>
            <a:r>
              <a:rPr lang="en-US" sz="1600" dirty="0">
                <a:solidFill>
                  <a:schemeClr val="bg1"/>
                </a:solidFill>
              </a:rPr>
              <a:t>Save the lesson at layer 2: a scoped rule, not AGENTS.md.</a:t>
            </a:r>
            <a:endParaRPr lang="en-US" sz="1600" dirty="0"/>
          </a:p>
        </p:txBody>
      </p:sp>
      <p:sp>
        <p:nvSpPr>
          <p:cNvPr id="20"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21" name="Text 19"/>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THE SCOPED RULE</a:t>
            </a:r>
            <a:endParaRPr lang="en-US" sz="1200" dirty="0"/>
          </a:p>
        </p:txBody>
      </p:sp>
      <p:sp>
        <p:nvSpPr>
          <p:cNvPr id="22" name="Text 20"/>
          <p:cNvSpPr txBox="1"/>
          <p:nvPr/>
        </p:nvSpPr>
        <p:spPr>
          <a:xfrm>
            <a:off x="7360920" y="2880360"/>
            <a:ext cx="3931920" cy="3108960"/>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description: Notification retry</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semantics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globs: src/notifications/**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alwaysApply: false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A retry is an attempt AFTER</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the initial one: N retries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N + 1 attempts (ADR 003)</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RESULTS · BOTH</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race results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Same model, same repo, same three tasks. Live numbers from the race terminal; rehearsal numbers below.</a:t>
            </a:r>
            <a:endParaRPr lang="en-US" sz="1500" dirty="0"/>
          </a:p>
        </p:txBody>
      </p:sp>
      <p:graphicFrame>
        <p:nvGraphicFramePr>
          <p:cNvPr id="24" name="results table"/>
          <p:cNvGraphicFramePr>
            <a:graphicFrameLocks noGrp="1"/>
          </p:cNvGraphicFramePr>
          <p:nvPr>
            <p:extLst>
              <p:ext uri="{D42A27DB-BD31-4B8C-83A1-F6EECF244321}">
                <p14:modId xmlns:p14="http://schemas.microsoft.com/office/powerpoint/2010/main" val="1579011935"/>
              </p:ext>
            </p:extLst>
          </p:nvPr>
        </p:nvGraphicFramePr>
        <p:xfrm>
          <a:off x="640080" y="1691640"/>
          <a:ext cx="7498080" cy="914400"/>
        </p:xfrm>
        <a:graphic>
          <a:graphicData uri="http://schemas.openxmlformats.org/drawingml/2006/table">
            <a:tbl>
              <a:tblPr/>
              <a:tblGrid>
                <a:gridCol w="3840480"/>
                <a:gridCol w="1828800"/>
                <a:gridCol w="1828800"/>
              </a:tblGrid>
              <a:tr h="512064">
                <a:tc>
                  <a:txBody>
                    <a:bodyPr/>
                    <a:lstStyle/>
                    <a:p>
                      <a:pPr indent="0" marL="0">
                        <a:buNone/>
                      </a:pPr>
                      <a:r>
                        <a:rPr lang="en-US" sz="1500" b="1" dirty="0">
                          <a:solidFill>
                            <a:schemeClr val="bg1"/>
                          </a:solidFill>
                        </a:rPr>
                        <a:t>Metric</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Vibe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accent3"/>
                    </a:solidFill>
                  </a:tcPr>
                </a:tc>
                <a:tc>
                  <a:txBody>
                    <a:bodyPr/>
                    <a:lstStyle/>
                    <a:p>
                      <a:pPr algn="ctr" indent="0" marL="0">
                        <a:buNone/>
                      </a:pPr>
                      <a:r>
                        <a:rPr lang="en-US" sz="1500" b="1" dirty="0">
                          <a:solidFill>
                            <a:schemeClr val="bg1"/>
                          </a:solidFill>
                        </a:rPr>
                        <a:t>Disciplined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accent2"/>
                    </a:solidFill>
                  </a:tcPr>
                </a:tc>
              </a:tr>
              <a:tr h="512064">
                <a:tc>
                  <a:txBody>
                    <a:bodyPr/>
                    <a:lstStyle/>
                    <a:p>
                      <a:pPr indent="0" marL="0">
                        <a:buNone/>
                      </a:pPr>
                      <a:r>
                        <a:rPr lang="en-US" sz="1500" b="1" dirty="0">
                          <a:solidFill>
                            <a:schemeClr val="tx1"/>
                          </a:solidFill>
                        </a:rPr>
                        <a:t>Tasks that passed hidden verification</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 / 3</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 / 3</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Tokens processed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Peak context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Cost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Files read · relevant ratio</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Files changed that didn't need to</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500" b="1" dirty="0">
                          <a:solidFill>
                            <a:schemeClr val="tx1"/>
                          </a:solidFill>
                        </a:rPr>
                        <a:t>Agent minutes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500" dirty="0">
                          <a:solidFill>
                            <a:schemeClr val="tx1"/>
                          </a:solidFill>
                        </a:rPr>
                        <a:t>_</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panel"/>
          <p:cNvSpPr/>
          <p:nvPr/>
        </p:nvSpPr>
        <p:spPr>
          <a:xfrm>
            <a:off x="8412480" y="1691640"/>
            <a:ext cx="3108960" cy="4114800"/>
          </a:xfrm>
          <a:prstGeom prst="roundRect">
            <a:avLst>
              <a:gd name="adj" fmla="val 2353"/>
            </a:avLst>
          </a:prstGeom>
          <a:solidFill>
            <a:schemeClr val="bg2"/>
          </a:solidFill>
          <a:ln w="12700">
            <a:solidFill>
              <a:schemeClr val="bg2"/>
            </a:solidFill>
            <a:prstDash val="solid"/>
          </a:ln>
        </p:spPr>
      </p:sp>
      <p:sp>
        <p:nvSpPr>
          <p:cNvPr id="7" name="glyph circle"/>
          <p:cNvSpPr/>
          <p:nvPr/>
        </p:nvSpPr>
        <p:spPr>
          <a:xfrm>
            <a:off x="8686800" y="1920240"/>
            <a:ext cx="457200" cy="457200"/>
          </a:xfrm>
          <a:prstGeom prst="ellipse">
            <a:avLst/>
          </a:prstGeom>
          <a:solidFill>
            <a:schemeClr val="accent2"/>
          </a:solidFill>
          <a:ln w="12700">
            <a:solidFill>
              <a:schemeClr val="accent2"/>
            </a:solidFill>
            <a:prstDash val="solid"/>
          </a:ln>
        </p:spPr>
      </p:sp>
      <p:sp>
        <p:nvSpPr>
          <p:cNvPr id="8" name="Text 5"/>
          <p:cNvSpPr txBox="1"/>
          <p:nvPr/>
        </p:nvSpPr>
        <p:spPr>
          <a:xfrm>
            <a:off x="868680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9" name="Text 6"/>
          <p:cNvSpPr txBox="1"/>
          <p:nvPr/>
        </p:nvSpPr>
        <p:spPr>
          <a:xfrm>
            <a:off x="8686800" y="2514600"/>
            <a:ext cx="2606040" cy="685800"/>
          </a:xfrm>
          <a:prstGeom prst="rect">
            <a:avLst/>
          </a:prstGeom>
          <a:noFill/>
          <a:ln/>
        </p:spPr>
        <p:txBody>
          <a:bodyPr wrap="square" lIns="0" tIns="0" rIns="0" bIns="0" rtlCol="0" anchor="t"/>
          <a:lstStyle/>
          <a:p>
            <a:pPr indent="0" marL="0">
              <a:buNone/>
            </a:pPr>
            <a:r>
              <a:rPr lang="en-US" sz="1800" b="1" dirty="0">
                <a:solidFill>
                  <a:schemeClr val="tx2"/>
                </a:solidFill>
              </a:rPr>
              <a:t>Read correctness first</a:t>
            </a:r>
            <a:endParaRPr lang="en-US" sz="1800" dirty="0"/>
          </a:p>
        </p:txBody>
      </p:sp>
      <p:sp>
        <p:nvSpPr>
          <p:cNvPr id="10" name="Text 7"/>
          <p:cNvSpPr txBox="1"/>
          <p:nvPr/>
        </p:nvSpPr>
        <p:spPr>
          <a:xfrm>
            <a:off x="8686800" y="3246120"/>
            <a:ext cx="2606040" cy="1463040"/>
          </a:xfrm>
          <a:prstGeom prst="rect">
            <a:avLst/>
          </a:prstGeom>
          <a:noFill/>
          <a:ln/>
        </p:spPr>
        <p:txBody>
          <a:bodyPr wrap="square" lIns="0" tIns="0" rIns="0" bIns="0" rtlCol="0" anchor="t"/>
          <a:lstStyle/>
          <a:p>
            <a:pPr indent="0" marL="0">
              <a:buNone/>
            </a:pPr>
            <a:r>
              <a:rPr lang="en-US" sz="1500" dirty="0">
                <a:solidFill>
                  <a:schemeClr val="accent3"/>
                </a:solidFill>
              </a:rPr>
              <a:t>A lane that is cheaper but wrong lost. A lane that is right and cheaper won twice.</a:t>
            </a:r>
            <a:endParaRPr lang="en-US" sz="1500" dirty="0"/>
          </a:p>
        </p:txBody>
      </p:sp>
      <p:sp>
        <p:nvSpPr>
          <p:cNvPr id="11" name="Text 8"/>
          <p:cNvSpPr txBox="1"/>
          <p:nvPr/>
        </p:nvSpPr>
        <p:spPr>
          <a:xfrm>
            <a:off x="8686800" y="4617720"/>
            <a:ext cx="2606040" cy="1097280"/>
          </a:xfrm>
          <a:prstGeom prst="rect">
            <a:avLst/>
          </a:prstGeom>
          <a:noFill/>
          <a:ln/>
        </p:spPr>
        <p:txBody>
          <a:bodyPr wrap="square" lIns="0" tIns="0" rIns="0" bIns="0" rtlCol="0" anchor="t"/>
          <a:lstStyle/>
          <a:p>
            <a:pPr indent="0" marL="0">
              <a:buNone/>
            </a:pPr>
            <a:r>
              <a:rPr lang="en-US" sz="1500" b="1" dirty="0">
                <a:solidFill>
                  <a:schemeClr val="tx1"/>
                </a:solidFill>
              </a:rPr>
              <a:t>The fix was one line either way. The rest was the cost of not saying what we knew.</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CLOSE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Take it back to your desk</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The pocket checklist. It's also on the cheat sheet.</a:t>
            </a:r>
            <a:endParaRPr lang="en-US" sz="1500" dirty="0"/>
          </a:p>
        </p:txBody>
      </p:sp>
      <p:sp>
        <p:nvSpPr>
          <p:cNvPr id="5" name="panel"/>
          <p:cNvSpPr/>
          <p:nvPr/>
        </p:nvSpPr>
        <p:spPr>
          <a:xfrm>
            <a:off x="640080" y="1737360"/>
            <a:ext cx="10881360" cy="914400"/>
          </a:xfrm>
          <a:prstGeom prst="roundRect">
            <a:avLst>
              <a:gd name="adj" fmla="val 8000"/>
            </a:avLst>
          </a:prstGeom>
          <a:solidFill>
            <a:schemeClr val="bg2"/>
          </a:solidFill>
          <a:ln w="12700">
            <a:solidFill>
              <a:schemeClr val="bg2"/>
            </a:solidFill>
            <a:prstDash val="solid"/>
          </a:ln>
        </p:spPr>
      </p:sp>
      <p:sp>
        <p:nvSpPr>
          <p:cNvPr id="6" name="phase"/>
          <p:cNvSpPr/>
          <p:nvPr/>
        </p:nvSpPr>
        <p:spPr>
          <a:xfrm>
            <a:off x="868680" y="1956816"/>
            <a:ext cx="1645920" cy="475488"/>
          </a:xfrm>
          <a:prstGeom prst="roundRect">
            <a:avLst>
              <a:gd name="adj" fmla="val 15385"/>
            </a:avLst>
          </a:prstGeom>
          <a:solidFill>
            <a:schemeClr val="accent1"/>
          </a:solidFill>
          <a:ln w="12700">
            <a:solidFill>
              <a:schemeClr val="accent1"/>
            </a:solidFill>
            <a:prstDash val="solid"/>
          </a:ln>
        </p:spPr>
      </p:sp>
      <p:sp>
        <p:nvSpPr>
          <p:cNvPr id="7" name="Text 5"/>
          <p:cNvSpPr txBox="1"/>
          <p:nvPr/>
        </p:nvSpPr>
        <p:spPr>
          <a:xfrm>
            <a:off x="868680" y="1956816"/>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BEFORE</a:t>
            </a:r>
            <a:endParaRPr lang="en-US" sz="1400" dirty="0"/>
          </a:p>
        </p:txBody>
      </p:sp>
      <p:sp>
        <p:nvSpPr>
          <p:cNvPr id="8" name="Text 6"/>
          <p:cNvSpPr txBox="1"/>
          <p:nvPr/>
        </p:nvSpPr>
        <p:spPr>
          <a:xfrm>
            <a:off x="2788920" y="1737360"/>
            <a:ext cx="8503920" cy="914400"/>
          </a:xfrm>
          <a:prstGeom prst="rect">
            <a:avLst/>
          </a:prstGeom>
          <a:noFill/>
          <a:ln/>
        </p:spPr>
        <p:txBody>
          <a:bodyPr wrap="square" lIns="0" tIns="0" rIns="0" bIns="0" rtlCol="0" anchor="ctr"/>
          <a:lstStyle/>
          <a:p>
            <a:pPr indent="0" marL="0">
              <a:buNone/>
            </a:pPr>
            <a:r>
              <a:rPr lang="en-US" sz="1700" dirty="0">
                <a:solidFill>
                  <a:schemeClr val="tx1"/>
                </a:solidFill>
              </a:rPr>
              <a:t>One goal · acceptance criteria · name the files · plan if anything is uncertain · note context %</a:t>
            </a:r>
            <a:endParaRPr lang="en-US" sz="1700" dirty="0"/>
          </a:p>
        </p:txBody>
      </p:sp>
      <p:sp>
        <p:nvSpPr>
          <p:cNvPr id="9" name="panel"/>
          <p:cNvSpPr/>
          <p:nvPr/>
        </p:nvSpPr>
        <p:spPr>
          <a:xfrm>
            <a:off x="640080" y="2816352"/>
            <a:ext cx="10881360" cy="914400"/>
          </a:xfrm>
          <a:prstGeom prst="roundRect">
            <a:avLst>
              <a:gd name="adj" fmla="val 8000"/>
            </a:avLst>
          </a:prstGeom>
          <a:solidFill>
            <a:schemeClr val="bg2"/>
          </a:solidFill>
          <a:ln w="12700">
            <a:solidFill>
              <a:schemeClr val="bg2"/>
            </a:solidFill>
            <a:prstDash val="solid"/>
          </a:ln>
        </p:spPr>
      </p:sp>
      <p:sp>
        <p:nvSpPr>
          <p:cNvPr id="10" name="phase"/>
          <p:cNvSpPr/>
          <p:nvPr/>
        </p:nvSpPr>
        <p:spPr>
          <a:xfrm>
            <a:off x="868680" y="3035808"/>
            <a:ext cx="1645920" cy="475488"/>
          </a:xfrm>
          <a:prstGeom prst="roundRect">
            <a:avLst>
              <a:gd name="adj" fmla="val 15385"/>
            </a:avLst>
          </a:prstGeom>
          <a:solidFill>
            <a:schemeClr val="accent2"/>
          </a:solidFill>
          <a:ln w="12700">
            <a:solidFill>
              <a:schemeClr val="accent2"/>
            </a:solidFill>
            <a:prstDash val="solid"/>
          </a:ln>
        </p:spPr>
      </p:sp>
      <p:sp>
        <p:nvSpPr>
          <p:cNvPr id="11" name="Text 9"/>
          <p:cNvSpPr txBox="1"/>
          <p:nvPr/>
        </p:nvSpPr>
        <p:spPr>
          <a:xfrm>
            <a:off x="868680" y="3035808"/>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DURING</a:t>
            </a:r>
            <a:endParaRPr lang="en-US" sz="1400" dirty="0"/>
          </a:p>
        </p:txBody>
      </p:sp>
      <p:sp>
        <p:nvSpPr>
          <p:cNvPr id="12" name="Text 10"/>
          <p:cNvSpPr txBox="1"/>
          <p:nvPr/>
        </p:nvSpPr>
        <p:spPr>
          <a:xfrm>
            <a:off x="2788920" y="2816352"/>
            <a:ext cx="8503920" cy="914400"/>
          </a:xfrm>
          <a:prstGeom prst="rect">
            <a:avLst/>
          </a:prstGeom>
          <a:noFill/>
          <a:ln/>
        </p:spPr>
        <p:txBody>
          <a:bodyPr wrap="square" lIns="0" tIns="0" rIns="0" bIns="0" rtlCol="0" anchor="ctr"/>
          <a:lstStyle/>
          <a:p>
            <a:pPr indent="0" marL="0">
              <a:buNone/>
            </a:pPr>
            <a:r>
              <a:rPr lang="en-US" sz="1700" dirty="0">
                <a:solidFill>
                  <a:schemeClr val="tx1"/>
                </a:solidFill>
              </a:rPr>
              <a:t>Build only what the plan says · narrowest test first · re-plan when evidence changes</a:t>
            </a:r>
            <a:endParaRPr lang="en-US" sz="1700" dirty="0"/>
          </a:p>
        </p:txBody>
      </p:sp>
      <p:sp>
        <p:nvSpPr>
          <p:cNvPr id="13" name="panel"/>
          <p:cNvSpPr/>
          <p:nvPr/>
        </p:nvSpPr>
        <p:spPr>
          <a:xfrm>
            <a:off x="640080" y="3895344"/>
            <a:ext cx="10881360" cy="914400"/>
          </a:xfrm>
          <a:prstGeom prst="roundRect">
            <a:avLst>
              <a:gd name="adj" fmla="val 8000"/>
            </a:avLst>
          </a:prstGeom>
          <a:solidFill>
            <a:schemeClr val="bg2"/>
          </a:solidFill>
          <a:ln w="12700">
            <a:solidFill>
              <a:schemeClr val="bg2"/>
            </a:solidFill>
            <a:prstDash val="solid"/>
          </a:ln>
        </p:spPr>
      </p:sp>
      <p:sp>
        <p:nvSpPr>
          <p:cNvPr id="14" name="phase"/>
          <p:cNvSpPr/>
          <p:nvPr/>
        </p:nvSpPr>
        <p:spPr>
          <a:xfrm>
            <a:off x="868680" y="4114800"/>
            <a:ext cx="1645920" cy="475488"/>
          </a:xfrm>
          <a:prstGeom prst="roundRect">
            <a:avLst>
              <a:gd name="adj" fmla="val 15385"/>
            </a:avLst>
          </a:prstGeom>
          <a:solidFill>
            <a:schemeClr val="tx2"/>
          </a:solidFill>
          <a:ln w="12700">
            <a:solidFill>
              <a:schemeClr val="tx2"/>
            </a:solidFill>
            <a:prstDash val="solid"/>
          </a:ln>
        </p:spPr>
      </p:sp>
      <p:sp>
        <p:nvSpPr>
          <p:cNvPr id="15" name="Text 13"/>
          <p:cNvSpPr txBox="1"/>
          <p:nvPr/>
        </p:nvSpPr>
        <p:spPr>
          <a:xfrm>
            <a:off x="868680" y="4114800"/>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SWITCHING</a:t>
            </a:r>
            <a:endParaRPr lang="en-US" sz="1400" dirty="0"/>
          </a:p>
        </p:txBody>
      </p:sp>
      <p:sp>
        <p:nvSpPr>
          <p:cNvPr id="16" name="Text 14"/>
          <p:cNvSpPr txBox="1"/>
          <p:nvPr/>
        </p:nvSpPr>
        <p:spPr>
          <a:xfrm>
            <a:off x="2788920" y="3895344"/>
            <a:ext cx="8503920" cy="914400"/>
          </a:xfrm>
          <a:prstGeom prst="rect">
            <a:avLst/>
          </a:prstGeom>
          <a:noFill/>
          <a:ln/>
        </p:spPr>
        <p:txBody>
          <a:bodyPr wrap="square" lIns="0" tIns="0" rIns="0" bIns="0" rtlCol="0" anchor="ctr"/>
          <a:lstStyle/>
          <a:p>
            <a:pPr indent="0" marL="0">
              <a:buNone/>
            </a:pPr>
            <a:r>
              <a:rPr lang="en-US" sz="1700" dirty="0">
                <a:solidFill>
                  <a:schemeClr val="tx1"/>
                </a:solidFill>
              </a:rPr>
              <a:t>Save the plan or a handoff to a file · same goal → compact · new goal → /clear</a:t>
            </a:r>
            <a:endParaRPr lang="en-US" sz="1700" dirty="0"/>
          </a:p>
        </p:txBody>
      </p:sp>
      <p:sp>
        <p:nvSpPr>
          <p:cNvPr id="17" name="panel"/>
          <p:cNvSpPr/>
          <p:nvPr/>
        </p:nvSpPr>
        <p:spPr>
          <a:xfrm>
            <a:off x="640080" y="4974336"/>
            <a:ext cx="10881360" cy="914400"/>
          </a:xfrm>
          <a:prstGeom prst="roundRect">
            <a:avLst>
              <a:gd name="adj" fmla="val 8000"/>
            </a:avLst>
          </a:prstGeom>
          <a:solidFill>
            <a:schemeClr val="bg2"/>
          </a:solidFill>
          <a:ln w="12700">
            <a:solidFill>
              <a:schemeClr val="bg2"/>
            </a:solidFill>
            <a:prstDash val="solid"/>
          </a:ln>
        </p:spPr>
      </p:sp>
      <p:sp>
        <p:nvSpPr>
          <p:cNvPr id="18" name="phase"/>
          <p:cNvSpPr/>
          <p:nvPr/>
        </p:nvSpPr>
        <p:spPr>
          <a:xfrm>
            <a:off x="868680" y="5193792"/>
            <a:ext cx="1645920" cy="475488"/>
          </a:xfrm>
          <a:prstGeom prst="roundRect">
            <a:avLst>
              <a:gd name="adj" fmla="val 15385"/>
            </a:avLst>
          </a:prstGeom>
          <a:solidFill>
            <a:schemeClr val="accent3"/>
          </a:solidFill>
          <a:ln w="12700">
            <a:solidFill>
              <a:schemeClr val="accent3"/>
            </a:solidFill>
            <a:prstDash val="solid"/>
          </a:ln>
        </p:spPr>
      </p:sp>
      <p:sp>
        <p:nvSpPr>
          <p:cNvPr id="19" name="Text 17"/>
          <p:cNvSpPr txBox="1"/>
          <p:nvPr/>
        </p:nvSpPr>
        <p:spPr>
          <a:xfrm>
            <a:off x="868680" y="5193792"/>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AFTER</a:t>
            </a:r>
            <a:endParaRPr lang="en-US" sz="1400" dirty="0"/>
          </a:p>
        </p:txBody>
      </p:sp>
      <p:sp>
        <p:nvSpPr>
          <p:cNvPr id="20" name="Text 18"/>
          <p:cNvSpPr txBox="1"/>
          <p:nvPr/>
        </p:nvSpPr>
        <p:spPr>
          <a:xfrm>
            <a:off x="2788920" y="4974336"/>
            <a:ext cx="8503920" cy="914400"/>
          </a:xfrm>
          <a:prstGeom prst="rect">
            <a:avLst/>
          </a:prstGeom>
          <a:noFill/>
          <a:ln/>
        </p:spPr>
        <p:txBody>
          <a:bodyPr wrap="square" lIns="0" tIns="0" rIns="0" bIns="0" rtlCol="0" anchor="ctr"/>
          <a:lstStyle/>
          <a:p>
            <a:pPr indent="0" marL="0">
              <a:buNone/>
            </a:pPr>
            <a:r>
              <a:rPr lang="en-US" sz="1700" dirty="0">
                <a:solidFill>
                  <a:schemeClr val="tx1"/>
                </a:solidFill>
              </a:rPr>
              <a:t>Verify · nothing unrelated changed · lessons go to the narrowest doc layer</a:t>
            </a:r>
            <a:endParaRPr lang="en-US" sz="17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10515600" cy="1005840"/>
          </a:xfrm>
          <a:prstGeom prst="rect">
            <a:avLst/>
          </a:prstGeom>
          <a:noFill/>
          <a:ln/>
        </p:spPr>
        <p:txBody>
          <a:bodyPr wrap="square" lIns="0" tIns="0" rIns="0" bIns="0" rtlCol="0" anchor="b"/>
          <a:lstStyle/>
          <a:p>
            <a:pPr indent="0" marL="0">
              <a:buNone/>
            </a:pPr>
            <a:r>
              <a:rPr lang="en-US" sz="5400" b="1" dirty="0">
                <a:solidFill>
                  <a:schemeClr val="bg1"/>
                </a:solidFill>
              </a:rPr>
              <a:t>Say what you know.</a:t>
            </a:r>
            <a:endParaRPr lang="en-US" sz="5400" dirty="0"/>
          </a:p>
          <a:p>
            <a:pPr indent="0" marL="0">
              <a:buNone/>
            </a:pPr>
            <a:r>
              <a:rPr lang="en-US" sz="5400" b="1" dirty="0">
                <a:solidFill>
                  <a:schemeClr val="bg1"/>
                </a:solidFill>
              </a:rPr>
              <a:t>Prove what you changed.</a:t>
            </a:r>
            <a:endParaRPr lang="en-US" sz="5400" dirty="0"/>
          </a:p>
        </p:txBody>
      </p:sp>
      <p:sp>
        <p:nvSpPr>
          <p:cNvPr id="3" name="Text 1"/>
          <p:cNvSpPr/>
          <p:nvPr>
            <p:ph idx="102" type="body" hasCustomPrompt="1"/>
          </p:nvPr>
        </p:nvSpPr>
        <p:spPr>
          <a:xfrm>
            <a:off x="731520" y="3108960"/>
            <a:ext cx="10515600" cy="640080"/>
          </a:xfrm>
          <a:prstGeom prst="rect">
            <a:avLst/>
          </a:prstGeom>
          <a:noFill/>
          <a:ln/>
        </p:spPr>
        <p:txBody>
          <a:bodyPr wrap="square" lIns="0" tIns="0" rIns="0" bIns="0" rtlCol="0" anchor="t"/>
          <a:lstStyle/>
          <a:p>
            <a:pPr indent="0" marL="0">
              <a:buNone/>
            </a:pPr>
            <a:r>
              <a:rPr lang="en-US" sz="2400" dirty="0">
                <a:solidFill>
                  <a:schemeClr val="bg2"/>
                </a:solidFill>
              </a:rPr>
              <a:t>Reset when the goal changes.</a:t>
            </a:r>
            <a:endParaRPr lang="en-US" sz="2400" dirty="0"/>
          </a:p>
        </p:txBody>
      </p:sp>
      <p:sp>
        <p:nvSpPr>
          <p:cNvPr id="4" name="Text 1"/>
          <p:cNvSpPr/>
          <p:nvPr>
            <p:ph idx="103" type="body" hasCustomPrompt="1"/>
          </p:nvPr>
        </p:nvSpPr>
        <p:spPr>
          <a:xfrm>
            <a:off x="731520" y="4937760"/>
            <a:ext cx="10515600" cy="914400"/>
          </a:xfrm>
          <a:prstGeom prst="rect">
            <a:avLst/>
          </a:prstGeom>
          <a:noFill/>
          <a:ln/>
        </p:spPr>
        <p:txBody>
          <a:bodyPr wrap="square" lIns="0" tIns="0" rIns="0" bIns="0" rtlCol="0" anchor="t"/>
          <a:lstStyle/>
          <a:p>
            <a:pPr indent="0" marL="0">
              <a:buNone/>
            </a:pPr>
            <a:r>
              <a:rPr lang="en-US" sz="1600" b="1" dirty="0">
                <a:solidFill>
                  <a:schemeClr val="accent4"/>
                </a:solidFill>
              </a:rPr>
              <a:t>Cheat sheet and practice repo: parcel-pilot</a:t>
            </a:r>
            <a:endParaRPr lang="en-US" sz="1600" dirty="0"/>
          </a:p>
          <a:p>
            <a:pPr indent="0" marL="0">
              <a:buNone/>
            </a:pPr>
            <a:r>
              <a:rPr lang="en-US" sz="1600" b="1" dirty="0">
                <a:solidFill>
                  <a:schemeClr val="bg2"/>
                </a:solidFill>
              </a:rPr>
              <a:t>Homework: tasks 2, 5, 6 and 7 in workshop/tasks  ·  Questions?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BACKUP</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Same habits, two CLIs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claude or agent - use whichever you like. The moves are the same.</a:t>
            </a:r>
            <a:endParaRPr lang="en-US" sz="1500" dirty="0"/>
          </a:p>
        </p:txBody>
      </p:sp>
      <p:graphicFrame>
        <p:nvGraphicFramePr>
          <p:cNvPr id="27" name="tool map"/>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2834640"/>
                <a:gridCol w="3840480"/>
                <a:gridCol w="4206240"/>
              </a:tblGrid>
              <a:tr h="475488">
                <a:tc>
                  <a:txBody>
                    <a:bodyPr/>
                    <a:lstStyle/>
                    <a:p>
                      <a:pPr indent="0" marL="0">
                        <a:buNone/>
                      </a:pPr>
                      <a:r>
                        <a:rPr lang="en-US" sz="1400" b="1" dirty="0">
                          <a:solidFill>
                            <a:schemeClr val="bg1"/>
                          </a:solidFill>
                        </a:rPr>
                        <a:t>Habit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Claude Code · claude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Cursor CLI · agent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Plan before editing</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Shift+Tab → plan mode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Shift+Tab → Plan or Ask · /plan · /ask</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Point at the code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@src/pricing/apply-discount.ts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@src/pricing/apply-discount.ts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See what you spend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/context · /statusline · /usage</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Context % status line · cursor.com dashboard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Same goal, long chat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/compact keep the decisions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/summarize</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New goal</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/clear</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/clear  (/new-chat)</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Undo a wrong turn</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Esc Esc · /rewind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/rewind · Ctrl+R to review changes</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Right model for the job</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/model</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/model</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Keep lessons, scoped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CLAUDE.md (one screen) + docs</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.cursor/rules/*.mdc + globs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BACKUP</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Match the model and mode to the task</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"Always use the strongest model" is not a strategy. Escalate on evidence.</a:t>
            </a:r>
            <a:endParaRPr lang="en-US" sz="1500" dirty="0"/>
          </a:p>
        </p:txBody>
      </p:sp>
      <p:sp>
        <p:nvSpPr>
          <p:cNvPr id="5" name="panel"/>
          <p:cNvSpPr/>
          <p:nvPr/>
        </p:nvSpPr>
        <p:spPr>
          <a:xfrm>
            <a:off x="640080" y="1691640"/>
            <a:ext cx="3502152" cy="3063240"/>
          </a:xfrm>
          <a:prstGeom prst="roundRect">
            <a:avLst>
              <a:gd name="adj" fmla="val 2388"/>
            </a:avLst>
          </a:prstGeom>
          <a:solidFill>
            <a:schemeClr val="bg2"/>
          </a:solidFill>
          <a:ln w="12700">
            <a:solidFill>
              <a:schemeClr val="bg2"/>
            </a:solidFill>
            <a:prstDash val="solid"/>
          </a:ln>
        </p:spPr>
      </p:sp>
      <p:sp>
        <p:nvSpPr>
          <p:cNvPr id="6" name="glyph circle"/>
          <p:cNvSpPr/>
          <p:nvPr/>
        </p:nvSpPr>
        <p:spPr>
          <a:xfrm>
            <a:off x="914400" y="1920240"/>
            <a:ext cx="502920" cy="502920"/>
          </a:xfrm>
          <a:prstGeom prst="ellipse">
            <a:avLst/>
          </a:prstGeom>
          <a:solidFill>
            <a:schemeClr val="accent2"/>
          </a:solidFill>
          <a:ln w="12700">
            <a:solidFill>
              <a:schemeClr val="accent2"/>
            </a:solidFill>
            <a:prstDash val="solid"/>
          </a:ln>
        </p:spPr>
      </p:sp>
      <p:sp>
        <p:nvSpPr>
          <p:cNvPr id="7" name="Text 5"/>
          <p:cNvSpPr txBox="1"/>
          <p:nvPr/>
        </p:nvSpPr>
        <p:spPr>
          <a:xfrm>
            <a:off x="91440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914400" y="2560320"/>
            <a:ext cx="3017520" cy="411480"/>
          </a:xfrm>
          <a:prstGeom prst="rect">
            <a:avLst/>
          </a:prstGeom>
          <a:noFill/>
          <a:ln/>
        </p:spPr>
        <p:txBody>
          <a:bodyPr wrap="square" lIns="0" tIns="0" rIns="0" bIns="0" rtlCol="0" anchor="t"/>
          <a:lstStyle/>
          <a:p>
            <a:pPr indent="0" marL="0">
              <a:buNone/>
            </a:pPr>
            <a:r>
              <a:rPr lang="en-US" sz="2000" b="1" dirty="0">
                <a:solidFill>
                  <a:schemeClr val="accent2"/>
                </a:solidFill>
              </a:rPr>
              <a:t>Mechanical</a:t>
            </a:r>
            <a:endParaRPr lang="en-US" sz="2000" dirty="0"/>
          </a:p>
        </p:txBody>
      </p:sp>
      <p:sp>
        <p:nvSpPr>
          <p:cNvPr id="9" name="Text 7"/>
          <p:cNvSpPr txBox="1"/>
          <p:nvPr/>
        </p:nvSpPr>
        <p:spPr>
          <a:xfrm>
            <a:off x="914400"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Rename a helper in one test file.</a:t>
            </a:r>
            <a:endParaRPr lang="en-US" sz="1500" dirty="0"/>
          </a:p>
        </p:txBody>
      </p:sp>
      <p:sp>
        <p:nvSpPr>
          <p:cNvPr id="10" name="Text 8"/>
          <p:cNvSpPr txBox="1"/>
          <p:nvPr/>
        </p:nvSpPr>
        <p:spPr>
          <a:xfrm>
            <a:off x="914400"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Fast model · inline edit · one file attached · no plan</a:t>
            </a:r>
            <a:endParaRPr lang="en-US" sz="1500" dirty="0"/>
          </a:p>
        </p:txBody>
      </p:sp>
      <p:sp>
        <p:nvSpPr>
          <p:cNvPr id="11" name="panel"/>
          <p:cNvSpPr/>
          <p:nvPr/>
        </p:nvSpPr>
        <p:spPr>
          <a:xfrm>
            <a:off x="4325112" y="1691640"/>
            <a:ext cx="3502152" cy="3063240"/>
          </a:xfrm>
          <a:prstGeom prst="roundRect">
            <a:avLst>
              <a:gd name="adj" fmla="val 2388"/>
            </a:avLst>
          </a:prstGeom>
          <a:solidFill>
            <a:schemeClr val="bg2"/>
          </a:solidFill>
          <a:ln w="12700">
            <a:solidFill>
              <a:schemeClr val="bg2"/>
            </a:solidFill>
            <a:prstDash val="solid"/>
          </a:ln>
        </p:spPr>
      </p:sp>
      <p:sp>
        <p:nvSpPr>
          <p:cNvPr id="12" name="glyph circle"/>
          <p:cNvSpPr/>
          <p:nvPr/>
        </p:nvSpPr>
        <p:spPr>
          <a:xfrm>
            <a:off x="4599432" y="192024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599432"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4599432" y="2560320"/>
            <a:ext cx="3017520" cy="411480"/>
          </a:xfrm>
          <a:prstGeom prst="rect">
            <a:avLst/>
          </a:prstGeom>
          <a:noFill/>
          <a:ln/>
        </p:spPr>
        <p:txBody>
          <a:bodyPr wrap="square" lIns="0" tIns="0" rIns="0" bIns="0" rtlCol="0" anchor="t"/>
          <a:lstStyle/>
          <a:p>
            <a:pPr indent="0" marL="0">
              <a:buNone/>
            </a:pPr>
            <a:r>
              <a:rPr lang="en-US" sz="2000" b="1" dirty="0">
                <a:solidFill>
                  <a:schemeClr val="accent1"/>
                </a:solidFill>
              </a:rPr>
              <a:t>Known, multi-file</a:t>
            </a:r>
            <a:endParaRPr lang="en-US" sz="2000" dirty="0"/>
          </a:p>
        </p:txBody>
      </p:sp>
      <p:sp>
        <p:nvSpPr>
          <p:cNvPr id="15" name="Text 13"/>
          <p:cNvSpPr txBox="1"/>
          <p:nvPr/>
        </p:nvSpPr>
        <p:spPr>
          <a:xfrm>
            <a:off x="4599432"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Expose an existing estimate in an API response.</a:t>
            </a:r>
            <a:endParaRPr lang="en-US" sz="1500" dirty="0"/>
          </a:p>
        </p:txBody>
      </p:sp>
      <p:sp>
        <p:nvSpPr>
          <p:cNvPr id="16" name="Text 14"/>
          <p:cNvSpPr txBox="1"/>
          <p:nvPr/>
        </p:nvSpPr>
        <p:spPr>
          <a:xfrm>
            <a:off x="4599432"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Default model · short plan · then agent mode</a:t>
            </a:r>
            <a:endParaRPr lang="en-US" sz="1500" dirty="0"/>
          </a:p>
        </p:txBody>
      </p:sp>
      <p:sp>
        <p:nvSpPr>
          <p:cNvPr id="17" name="panel"/>
          <p:cNvSpPr/>
          <p:nvPr/>
        </p:nvSpPr>
        <p:spPr>
          <a:xfrm>
            <a:off x="8010144" y="1691640"/>
            <a:ext cx="3502152" cy="3063240"/>
          </a:xfrm>
          <a:prstGeom prst="roundRect">
            <a:avLst>
              <a:gd name="adj" fmla="val 2388"/>
            </a:avLst>
          </a:prstGeom>
          <a:solidFill>
            <a:schemeClr val="bg2"/>
          </a:solidFill>
          <a:ln w="12700">
            <a:solidFill>
              <a:schemeClr val="bg2"/>
            </a:solidFill>
            <a:prstDash val="solid"/>
          </a:ln>
        </p:spPr>
      </p:sp>
      <p:sp>
        <p:nvSpPr>
          <p:cNvPr id="18" name="glyph circle"/>
          <p:cNvSpPr/>
          <p:nvPr/>
        </p:nvSpPr>
        <p:spPr>
          <a:xfrm>
            <a:off x="8284464" y="1920240"/>
            <a:ext cx="502920" cy="502920"/>
          </a:xfrm>
          <a:prstGeom prst="ellipse">
            <a:avLst/>
          </a:prstGeom>
          <a:solidFill>
            <a:schemeClr val="tx2"/>
          </a:solidFill>
          <a:ln w="12700">
            <a:solidFill>
              <a:schemeClr val="tx2"/>
            </a:solidFill>
            <a:prstDash val="solid"/>
          </a:ln>
        </p:spPr>
      </p:sp>
      <p:sp>
        <p:nvSpPr>
          <p:cNvPr id="19" name="Text 17"/>
          <p:cNvSpPr txBox="1"/>
          <p:nvPr/>
        </p:nvSpPr>
        <p:spPr>
          <a:xfrm>
            <a:off x="8284464"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8284464" y="2560320"/>
            <a:ext cx="3017520" cy="411480"/>
          </a:xfrm>
          <a:prstGeom prst="rect">
            <a:avLst/>
          </a:prstGeom>
          <a:noFill/>
          <a:ln/>
        </p:spPr>
        <p:txBody>
          <a:bodyPr wrap="square" lIns="0" tIns="0" rIns="0" bIns="0" rtlCol="0" anchor="t"/>
          <a:lstStyle/>
          <a:p>
            <a:pPr indent="0" marL="0">
              <a:buNone/>
            </a:pPr>
            <a:r>
              <a:rPr lang="en-US" sz="2000" b="1" dirty="0">
                <a:solidFill>
                  <a:schemeClr val="tx2"/>
                </a:solidFill>
              </a:rPr>
              <a:t>Unknown root cause</a:t>
            </a:r>
            <a:endParaRPr lang="en-US" sz="2000" dirty="0"/>
          </a:p>
        </p:txBody>
      </p:sp>
      <p:sp>
        <p:nvSpPr>
          <p:cNvPr id="21" name="Text 19"/>
          <p:cNvSpPr txBox="1"/>
          <p:nvPr/>
        </p:nvSpPr>
        <p:spPr>
          <a:xfrm>
            <a:off x="8284464"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Duplicate emails after a timeout, sometimes.</a:t>
            </a:r>
            <a:endParaRPr lang="en-US" sz="1500" dirty="0"/>
          </a:p>
        </p:txBody>
      </p:sp>
      <p:sp>
        <p:nvSpPr>
          <p:cNvPr id="22" name="Text 20"/>
          <p:cNvSpPr txBox="1"/>
          <p:nvPr/>
        </p:nvSpPr>
        <p:spPr>
          <a:xfrm>
            <a:off x="8284464"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Strongest model · plan or ask first · logs, not folders</a:t>
            </a:r>
            <a:endParaRPr lang="en-US" sz="1500" dirty="0"/>
          </a:p>
        </p:txBody>
      </p:sp>
      <p:sp>
        <p:nvSpPr>
          <p:cNvPr id="23" name="panel"/>
          <p:cNvSpPr/>
          <p:nvPr/>
        </p:nvSpPr>
        <p:spPr>
          <a:xfrm>
            <a:off x="640080" y="5029200"/>
            <a:ext cx="10881360" cy="914400"/>
          </a:xfrm>
          <a:prstGeom prst="roundRect">
            <a:avLst>
              <a:gd name="adj" fmla="val 8000"/>
            </a:avLst>
          </a:prstGeom>
          <a:solidFill>
            <a:schemeClr val="bg2"/>
          </a:solidFill>
          <a:ln w="12700">
            <a:solidFill>
              <a:schemeClr val="bg2"/>
            </a:solidFill>
            <a:prstDash val="solid"/>
          </a:ln>
        </p:spPr>
      </p:sp>
      <p:sp>
        <p:nvSpPr>
          <p:cNvPr id="24" name="Text 22"/>
          <p:cNvSpPr txBox="1"/>
          <p:nvPr/>
        </p:nvSpPr>
        <p:spPr>
          <a:xfrm>
            <a:off x="868680" y="5029200"/>
            <a:ext cx="10424160" cy="914400"/>
          </a:xfrm>
          <a:prstGeom prst="rect">
            <a:avLst/>
          </a:prstGeom>
          <a:noFill/>
          <a:ln/>
        </p:spPr>
        <p:txBody>
          <a:bodyPr wrap="square" lIns="0" tIns="0" rIns="0" bIns="0" rtlCol="0" anchor="ctr"/>
          <a:lstStyle/>
          <a:p>
            <a:pPr indent="0" marL="0">
              <a:buNone/>
            </a:pPr>
            <a:r>
              <a:rPr lang="en-US" sz="1500" b="1" dirty="0">
                <a:solidFill>
                  <a:schemeClr val="tx2"/>
                </a:solidFill>
              </a:rPr>
              <a:t>Escalate when you have two failed attempts or can't form a hypothesis - not when it "feels hard". Send broad exploration to a subagent so your main chat stays lean.</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Xplor">
      <a:dk1>
        <a:srgbClr val="282F35"/>
      </a:dk1>
      <a:lt1>
        <a:srgbClr val="FFFFFF"/>
      </a:lt1>
      <a:dk2>
        <a:srgbClr val="401F9F"/>
      </a:dk2>
      <a:lt2>
        <a:srgbClr val="F1F6FA"/>
      </a:lt2>
      <a:accent1>
        <a:srgbClr val="6923F4"/>
      </a:accent1>
      <a:accent2>
        <a:srgbClr val="0FA3A4"/>
      </a:accent2>
      <a:accent3>
        <a:srgbClr val="545D63"/>
      </a:accent3>
      <a:accent4>
        <a:srgbClr val="3ACBCA"/>
      </a:accent4>
      <a:accent5>
        <a:srgbClr val="BABEFC"/>
      </a:accent5>
      <a:accent6>
        <a:srgbClr val="8C969F"/>
      </a:accent6>
      <a:hlink>
        <a:srgbClr val="6923F4"/>
      </a:hlink>
      <a:folHlink>
        <a:srgbClr val="401F9F"/>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Xplor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vs. Verified</dc:title>
  <dc:subject>PptxGenJS Presentation</dc:subject>
  <dc:creator>Adam &amp; Eugene</dc:creator>
  <cp:lastModifiedBy>Adam &amp; Eugene</cp:lastModifiedBy>
  <cp:revision>1</cp:revision>
  <dcterms:created xsi:type="dcterms:W3CDTF">2026-10-13T22:42:29Z</dcterms:created>
  <dcterms:modified xsi:type="dcterms:W3CDTF">2026-10-13T22:42:29Z</dcterms:modified>
</cp:coreProperties>
</file>